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4642C-E606-80D3-439E-0B4AEF8573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D7C7E7-41F5-02FD-E353-36BF546B46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13C21F9-1C41-C770-4595-EF0B6989D442}"/>
              </a:ext>
            </a:extLst>
          </p:cNvPr>
          <p:cNvSpPr>
            <a:spLocks noGrp="1"/>
          </p:cNvSpPr>
          <p:nvPr>
            <p:ph type="dt" sz="half" idx="10"/>
          </p:nvPr>
        </p:nvSpPr>
        <p:spPr/>
        <p:txBody>
          <a:bodyPr/>
          <a:lstStyle/>
          <a:p>
            <a:fld id="{CA0934F7-A01F-4593-A0CC-C6B9720A24A1}" type="datetimeFigureOut">
              <a:rPr lang="en-US" smtClean="0"/>
              <a:t>9/23/2026</a:t>
            </a:fld>
            <a:endParaRPr lang="en-US"/>
          </a:p>
        </p:txBody>
      </p:sp>
      <p:sp>
        <p:nvSpPr>
          <p:cNvPr id="5" name="Footer Placeholder 4">
            <a:extLst>
              <a:ext uri="{FF2B5EF4-FFF2-40B4-BE49-F238E27FC236}">
                <a16:creationId xmlns:a16="http://schemas.microsoft.com/office/drawing/2014/main" id="{84737CF9-A97D-24AA-E8F5-8284B050D8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73CA8D-32BF-A2FE-8EAA-522495C3648E}"/>
              </a:ext>
            </a:extLst>
          </p:cNvPr>
          <p:cNvSpPr>
            <a:spLocks noGrp="1"/>
          </p:cNvSpPr>
          <p:nvPr>
            <p:ph type="sldNum" sz="quarter" idx="12"/>
          </p:nvPr>
        </p:nvSpPr>
        <p:spPr/>
        <p:txBody>
          <a:bodyPr/>
          <a:lstStyle/>
          <a:p>
            <a:fld id="{1A0021CD-514C-4C70-934D-1074D1B9886C}" type="slidenum">
              <a:rPr lang="en-US" smtClean="0"/>
              <a:t>‹#›</a:t>
            </a:fld>
            <a:endParaRPr lang="en-US"/>
          </a:p>
        </p:txBody>
      </p:sp>
    </p:spTree>
    <p:extLst>
      <p:ext uri="{BB962C8B-B14F-4D97-AF65-F5344CB8AC3E}">
        <p14:creationId xmlns:p14="http://schemas.microsoft.com/office/powerpoint/2010/main" val="2746542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54ED6-ECEA-01AA-9C72-81EDF3EC77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06FDD0-DA55-62E6-BEDA-5F2CFB5E0D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F8B46-5FBF-BFC1-877D-766DD6C07079}"/>
              </a:ext>
            </a:extLst>
          </p:cNvPr>
          <p:cNvSpPr>
            <a:spLocks noGrp="1"/>
          </p:cNvSpPr>
          <p:nvPr>
            <p:ph type="dt" sz="half" idx="10"/>
          </p:nvPr>
        </p:nvSpPr>
        <p:spPr/>
        <p:txBody>
          <a:bodyPr/>
          <a:lstStyle/>
          <a:p>
            <a:fld id="{CA0934F7-A01F-4593-A0CC-C6B9720A24A1}" type="datetimeFigureOut">
              <a:rPr lang="en-US" smtClean="0"/>
              <a:t>9/23/2026</a:t>
            </a:fld>
            <a:endParaRPr lang="en-US"/>
          </a:p>
        </p:txBody>
      </p:sp>
      <p:sp>
        <p:nvSpPr>
          <p:cNvPr id="5" name="Footer Placeholder 4">
            <a:extLst>
              <a:ext uri="{FF2B5EF4-FFF2-40B4-BE49-F238E27FC236}">
                <a16:creationId xmlns:a16="http://schemas.microsoft.com/office/drawing/2014/main" id="{B9DBF3B1-576F-9FE8-0FFB-58682A84BE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432FE4-00C2-C271-8715-D17D25058E06}"/>
              </a:ext>
            </a:extLst>
          </p:cNvPr>
          <p:cNvSpPr>
            <a:spLocks noGrp="1"/>
          </p:cNvSpPr>
          <p:nvPr>
            <p:ph type="sldNum" sz="quarter" idx="12"/>
          </p:nvPr>
        </p:nvSpPr>
        <p:spPr/>
        <p:txBody>
          <a:bodyPr/>
          <a:lstStyle/>
          <a:p>
            <a:fld id="{1A0021CD-514C-4C70-934D-1074D1B9886C}" type="slidenum">
              <a:rPr lang="en-US" smtClean="0"/>
              <a:t>‹#›</a:t>
            </a:fld>
            <a:endParaRPr lang="en-US"/>
          </a:p>
        </p:txBody>
      </p:sp>
    </p:spTree>
    <p:extLst>
      <p:ext uri="{BB962C8B-B14F-4D97-AF65-F5344CB8AC3E}">
        <p14:creationId xmlns:p14="http://schemas.microsoft.com/office/powerpoint/2010/main" val="1196710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807A-0E6C-E1C1-9C4F-E775831C4F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851145-DF18-9F7B-9248-53FBCFE8A2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C29366-AF73-F216-CAEF-137336B33877}"/>
              </a:ext>
            </a:extLst>
          </p:cNvPr>
          <p:cNvSpPr>
            <a:spLocks noGrp="1"/>
          </p:cNvSpPr>
          <p:nvPr>
            <p:ph type="dt" sz="half" idx="10"/>
          </p:nvPr>
        </p:nvSpPr>
        <p:spPr/>
        <p:txBody>
          <a:bodyPr/>
          <a:lstStyle/>
          <a:p>
            <a:fld id="{CA0934F7-A01F-4593-A0CC-C6B9720A24A1}" type="datetimeFigureOut">
              <a:rPr lang="en-US" smtClean="0"/>
              <a:t>9/23/2026</a:t>
            </a:fld>
            <a:endParaRPr lang="en-US"/>
          </a:p>
        </p:txBody>
      </p:sp>
      <p:sp>
        <p:nvSpPr>
          <p:cNvPr id="5" name="Footer Placeholder 4">
            <a:extLst>
              <a:ext uri="{FF2B5EF4-FFF2-40B4-BE49-F238E27FC236}">
                <a16:creationId xmlns:a16="http://schemas.microsoft.com/office/drawing/2014/main" id="{901EEB56-BC74-EB48-E3F2-19016C6D7A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DDCCF7-39A8-96D9-36EA-DDF4DEAD03B3}"/>
              </a:ext>
            </a:extLst>
          </p:cNvPr>
          <p:cNvSpPr>
            <a:spLocks noGrp="1"/>
          </p:cNvSpPr>
          <p:nvPr>
            <p:ph type="sldNum" sz="quarter" idx="12"/>
          </p:nvPr>
        </p:nvSpPr>
        <p:spPr/>
        <p:txBody>
          <a:bodyPr/>
          <a:lstStyle/>
          <a:p>
            <a:fld id="{1A0021CD-514C-4C70-934D-1074D1B9886C}" type="slidenum">
              <a:rPr lang="en-US" smtClean="0"/>
              <a:t>‹#›</a:t>
            </a:fld>
            <a:endParaRPr lang="en-US"/>
          </a:p>
        </p:txBody>
      </p:sp>
    </p:spTree>
    <p:extLst>
      <p:ext uri="{BB962C8B-B14F-4D97-AF65-F5344CB8AC3E}">
        <p14:creationId xmlns:p14="http://schemas.microsoft.com/office/powerpoint/2010/main" val="2625398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05E4E-0D61-5924-E778-5C9F9248F6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C569F-508E-528D-1AD9-AE0B62F1E1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2BBC02-B2FF-8A07-675B-9DA63A5585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CAC956-ED1B-4EF3-62FE-1CECAA35BAE2}"/>
              </a:ext>
            </a:extLst>
          </p:cNvPr>
          <p:cNvSpPr>
            <a:spLocks noGrp="1"/>
          </p:cNvSpPr>
          <p:nvPr>
            <p:ph type="dt" sz="half" idx="10"/>
          </p:nvPr>
        </p:nvSpPr>
        <p:spPr/>
        <p:txBody>
          <a:bodyPr/>
          <a:lstStyle/>
          <a:p>
            <a:fld id="{CA0934F7-A01F-4593-A0CC-C6B9720A24A1}" type="datetimeFigureOut">
              <a:rPr lang="en-US" smtClean="0"/>
              <a:t>9/23/2026</a:t>
            </a:fld>
            <a:endParaRPr lang="en-US"/>
          </a:p>
        </p:txBody>
      </p:sp>
      <p:sp>
        <p:nvSpPr>
          <p:cNvPr id="6" name="Footer Placeholder 5">
            <a:extLst>
              <a:ext uri="{FF2B5EF4-FFF2-40B4-BE49-F238E27FC236}">
                <a16:creationId xmlns:a16="http://schemas.microsoft.com/office/drawing/2014/main" id="{929AD37D-3EA1-24C4-6C45-EF53A0C6F8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336629-BA5F-6095-5B1A-28E9900A70CB}"/>
              </a:ext>
            </a:extLst>
          </p:cNvPr>
          <p:cNvSpPr>
            <a:spLocks noGrp="1"/>
          </p:cNvSpPr>
          <p:nvPr>
            <p:ph type="sldNum" sz="quarter" idx="12"/>
          </p:nvPr>
        </p:nvSpPr>
        <p:spPr/>
        <p:txBody>
          <a:bodyPr/>
          <a:lstStyle/>
          <a:p>
            <a:fld id="{1A0021CD-514C-4C70-934D-1074D1B9886C}" type="slidenum">
              <a:rPr lang="en-US" smtClean="0"/>
              <a:t>‹#›</a:t>
            </a:fld>
            <a:endParaRPr lang="en-US"/>
          </a:p>
        </p:txBody>
      </p:sp>
    </p:spTree>
    <p:extLst>
      <p:ext uri="{BB962C8B-B14F-4D97-AF65-F5344CB8AC3E}">
        <p14:creationId xmlns:p14="http://schemas.microsoft.com/office/powerpoint/2010/main" val="3863509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32A8F-6FC8-0DFC-40F1-F8780CA6EC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9B33A3-8876-1E88-C678-8B90263E8E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78914C-89B0-CC4B-5DCD-169BCBDD10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21B2DF-4F5C-E92B-BDEE-17E1454060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ED6084-3A4E-AFD9-54A4-3E664B769E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CB7597-F6F6-40AC-023A-01780F1EC0FF}"/>
              </a:ext>
            </a:extLst>
          </p:cNvPr>
          <p:cNvSpPr>
            <a:spLocks noGrp="1"/>
          </p:cNvSpPr>
          <p:nvPr>
            <p:ph type="dt" sz="half" idx="10"/>
          </p:nvPr>
        </p:nvSpPr>
        <p:spPr/>
        <p:txBody>
          <a:bodyPr/>
          <a:lstStyle/>
          <a:p>
            <a:fld id="{CA0934F7-A01F-4593-A0CC-C6B9720A24A1}" type="datetimeFigureOut">
              <a:rPr lang="en-US" smtClean="0"/>
              <a:t>9/23/2026</a:t>
            </a:fld>
            <a:endParaRPr lang="en-US"/>
          </a:p>
        </p:txBody>
      </p:sp>
      <p:sp>
        <p:nvSpPr>
          <p:cNvPr id="8" name="Footer Placeholder 7">
            <a:extLst>
              <a:ext uri="{FF2B5EF4-FFF2-40B4-BE49-F238E27FC236}">
                <a16:creationId xmlns:a16="http://schemas.microsoft.com/office/drawing/2014/main" id="{208A2D8D-9737-AC64-AE72-65DB1D2C36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D38D75-BB00-53E2-F631-557E2D2C7482}"/>
              </a:ext>
            </a:extLst>
          </p:cNvPr>
          <p:cNvSpPr>
            <a:spLocks noGrp="1"/>
          </p:cNvSpPr>
          <p:nvPr>
            <p:ph type="sldNum" sz="quarter" idx="12"/>
          </p:nvPr>
        </p:nvSpPr>
        <p:spPr/>
        <p:txBody>
          <a:bodyPr/>
          <a:lstStyle/>
          <a:p>
            <a:fld id="{1A0021CD-514C-4C70-934D-1074D1B9886C}" type="slidenum">
              <a:rPr lang="en-US" smtClean="0"/>
              <a:t>‹#›</a:t>
            </a:fld>
            <a:endParaRPr lang="en-US"/>
          </a:p>
        </p:txBody>
      </p:sp>
    </p:spTree>
    <p:extLst>
      <p:ext uri="{BB962C8B-B14F-4D97-AF65-F5344CB8AC3E}">
        <p14:creationId xmlns:p14="http://schemas.microsoft.com/office/powerpoint/2010/main" val="577578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1DD09-DE56-BA7A-0985-2B651C3DD2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6C60D1-454B-1C21-4BD5-43DABE1B6517}"/>
              </a:ext>
            </a:extLst>
          </p:cNvPr>
          <p:cNvSpPr>
            <a:spLocks noGrp="1"/>
          </p:cNvSpPr>
          <p:nvPr>
            <p:ph type="dt" sz="half" idx="10"/>
          </p:nvPr>
        </p:nvSpPr>
        <p:spPr/>
        <p:txBody>
          <a:bodyPr/>
          <a:lstStyle/>
          <a:p>
            <a:fld id="{CA0934F7-A01F-4593-A0CC-C6B9720A24A1}" type="datetimeFigureOut">
              <a:rPr lang="en-US" smtClean="0"/>
              <a:t>9/23/2026</a:t>
            </a:fld>
            <a:endParaRPr lang="en-US"/>
          </a:p>
        </p:txBody>
      </p:sp>
      <p:sp>
        <p:nvSpPr>
          <p:cNvPr id="4" name="Footer Placeholder 3">
            <a:extLst>
              <a:ext uri="{FF2B5EF4-FFF2-40B4-BE49-F238E27FC236}">
                <a16:creationId xmlns:a16="http://schemas.microsoft.com/office/drawing/2014/main" id="{285D8061-C32B-DA30-8955-4483AC042B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3456C3-138F-5550-B76D-B00D291326C9}"/>
              </a:ext>
            </a:extLst>
          </p:cNvPr>
          <p:cNvSpPr>
            <a:spLocks noGrp="1"/>
          </p:cNvSpPr>
          <p:nvPr>
            <p:ph type="sldNum" sz="quarter" idx="12"/>
          </p:nvPr>
        </p:nvSpPr>
        <p:spPr/>
        <p:txBody>
          <a:bodyPr/>
          <a:lstStyle/>
          <a:p>
            <a:fld id="{1A0021CD-514C-4C70-934D-1074D1B9886C}" type="slidenum">
              <a:rPr lang="en-US" smtClean="0"/>
              <a:t>‹#›</a:t>
            </a:fld>
            <a:endParaRPr lang="en-US"/>
          </a:p>
        </p:txBody>
      </p:sp>
    </p:spTree>
    <p:extLst>
      <p:ext uri="{BB962C8B-B14F-4D97-AF65-F5344CB8AC3E}">
        <p14:creationId xmlns:p14="http://schemas.microsoft.com/office/powerpoint/2010/main" val="2971596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AF135E-E2E3-397C-0C18-343C311AB39E}"/>
              </a:ext>
            </a:extLst>
          </p:cNvPr>
          <p:cNvSpPr>
            <a:spLocks noGrp="1"/>
          </p:cNvSpPr>
          <p:nvPr>
            <p:ph type="dt" sz="half" idx="10"/>
          </p:nvPr>
        </p:nvSpPr>
        <p:spPr/>
        <p:txBody>
          <a:bodyPr/>
          <a:lstStyle/>
          <a:p>
            <a:fld id="{CA0934F7-A01F-4593-A0CC-C6B9720A24A1}" type="datetimeFigureOut">
              <a:rPr lang="en-US" smtClean="0"/>
              <a:t>9/23/2026</a:t>
            </a:fld>
            <a:endParaRPr lang="en-US"/>
          </a:p>
        </p:txBody>
      </p:sp>
      <p:sp>
        <p:nvSpPr>
          <p:cNvPr id="3" name="Footer Placeholder 2">
            <a:extLst>
              <a:ext uri="{FF2B5EF4-FFF2-40B4-BE49-F238E27FC236}">
                <a16:creationId xmlns:a16="http://schemas.microsoft.com/office/drawing/2014/main" id="{68214579-7F9B-2738-B29C-D88EC48CC8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39D09A-E16D-5D9C-D627-2F82EEF6FD66}"/>
              </a:ext>
            </a:extLst>
          </p:cNvPr>
          <p:cNvSpPr>
            <a:spLocks noGrp="1"/>
          </p:cNvSpPr>
          <p:nvPr>
            <p:ph type="sldNum" sz="quarter" idx="12"/>
          </p:nvPr>
        </p:nvSpPr>
        <p:spPr/>
        <p:txBody>
          <a:bodyPr/>
          <a:lstStyle/>
          <a:p>
            <a:fld id="{1A0021CD-514C-4C70-934D-1074D1B9886C}" type="slidenum">
              <a:rPr lang="en-US" smtClean="0"/>
              <a:t>‹#›</a:t>
            </a:fld>
            <a:endParaRPr lang="en-US"/>
          </a:p>
        </p:txBody>
      </p:sp>
    </p:spTree>
    <p:extLst>
      <p:ext uri="{BB962C8B-B14F-4D97-AF65-F5344CB8AC3E}">
        <p14:creationId xmlns:p14="http://schemas.microsoft.com/office/powerpoint/2010/main" val="1342801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5A04-44C8-FD63-AA52-7EA6052263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428F94-427C-0598-BDDE-DFC3532F5A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D90E0A-B725-9842-096F-69CB5A68C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319295-494E-0566-7C08-1FABCE3400F6}"/>
              </a:ext>
            </a:extLst>
          </p:cNvPr>
          <p:cNvSpPr>
            <a:spLocks noGrp="1"/>
          </p:cNvSpPr>
          <p:nvPr>
            <p:ph type="dt" sz="half" idx="10"/>
          </p:nvPr>
        </p:nvSpPr>
        <p:spPr/>
        <p:txBody>
          <a:bodyPr/>
          <a:lstStyle/>
          <a:p>
            <a:fld id="{CA0934F7-A01F-4593-A0CC-C6B9720A24A1}" type="datetimeFigureOut">
              <a:rPr lang="en-US" smtClean="0"/>
              <a:t>9/23/2026</a:t>
            </a:fld>
            <a:endParaRPr lang="en-US"/>
          </a:p>
        </p:txBody>
      </p:sp>
      <p:sp>
        <p:nvSpPr>
          <p:cNvPr id="6" name="Footer Placeholder 5">
            <a:extLst>
              <a:ext uri="{FF2B5EF4-FFF2-40B4-BE49-F238E27FC236}">
                <a16:creationId xmlns:a16="http://schemas.microsoft.com/office/drawing/2014/main" id="{44F19236-CAF3-4A23-AB6D-9AB1923761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31B522-D46E-00B7-A159-110C96B260A8}"/>
              </a:ext>
            </a:extLst>
          </p:cNvPr>
          <p:cNvSpPr>
            <a:spLocks noGrp="1"/>
          </p:cNvSpPr>
          <p:nvPr>
            <p:ph type="sldNum" sz="quarter" idx="12"/>
          </p:nvPr>
        </p:nvSpPr>
        <p:spPr/>
        <p:txBody>
          <a:bodyPr/>
          <a:lstStyle/>
          <a:p>
            <a:fld id="{1A0021CD-514C-4C70-934D-1074D1B9886C}" type="slidenum">
              <a:rPr lang="en-US" smtClean="0"/>
              <a:t>‹#›</a:t>
            </a:fld>
            <a:endParaRPr lang="en-US"/>
          </a:p>
        </p:txBody>
      </p:sp>
    </p:spTree>
    <p:extLst>
      <p:ext uri="{BB962C8B-B14F-4D97-AF65-F5344CB8AC3E}">
        <p14:creationId xmlns:p14="http://schemas.microsoft.com/office/powerpoint/2010/main" val="3869120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096A-56CD-5C8E-BBE4-A24B0561ED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48A3B66-90CA-8DFE-01AA-D92AD67565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2FAA49-BC2E-1052-9B5F-26C119156F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C832C2-77E9-385D-A625-1620F6B52D31}"/>
              </a:ext>
            </a:extLst>
          </p:cNvPr>
          <p:cNvSpPr>
            <a:spLocks noGrp="1"/>
          </p:cNvSpPr>
          <p:nvPr>
            <p:ph type="dt" sz="half" idx="10"/>
          </p:nvPr>
        </p:nvSpPr>
        <p:spPr/>
        <p:txBody>
          <a:bodyPr/>
          <a:lstStyle/>
          <a:p>
            <a:fld id="{CA0934F7-A01F-4593-A0CC-C6B9720A24A1}" type="datetimeFigureOut">
              <a:rPr lang="en-US" smtClean="0"/>
              <a:t>9/23/2026</a:t>
            </a:fld>
            <a:endParaRPr lang="en-US"/>
          </a:p>
        </p:txBody>
      </p:sp>
      <p:sp>
        <p:nvSpPr>
          <p:cNvPr id="6" name="Footer Placeholder 5">
            <a:extLst>
              <a:ext uri="{FF2B5EF4-FFF2-40B4-BE49-F238E27FC236}">
                <a16:creationId xmlns:a16="http://schemas.microsoft.com/office/drawing/2014/main" id="{3F212CDB-DEEE-2BB9-D3A9-994C096A9C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166D39-DE5F-E9EB-1B2A-6BE9889B4B05}"/>
              </a:ext>
            </a:extLst>
          </p:cNvPr>
          <p:cNvSpPr>
            <a:spLocks noGrp="1"/>
          </p:cNvSpPr>
          <p:nvPr>
            <p:ph type="sldNum" sz="quarter" idx="12"/>
          </p:nvPr>
        </p:nvSpPr>
        <p:spPr/>
        <p:txBody>
          <a:bodyPr/>
          <a:lstStyle/>
          <a:p>
            <a:fld id="{1A0021CD-514C-4C70-934D-1074D1B9886C}" type="slidenum">
              <a:rPr lang="en-US" smtClean="0"/>
              <a:t>‹#›</a:t>
            </a:fld>
            <a:endParaRPr lang="en-US"/>
          </a:p>
        </p:txBody>
      </p:sp>
    </p:spTree>
    <p:extLst>
      <p:ext uri="{BB962C8B-B14F-4D97-AF65-F5344CB8AC3E}">
        <p14:creationId xmlns:p14="http://schemas.microsoft.com/office/powerpoint/2010/main" val="684647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D92E2-93CE-3A12-C0CB-D65E9F0EC5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091BB2-CF38-957D-EB34-74BAE46387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3E65-5021-4F97-0489-60E627772FC5}"/>
              </a:ext>
            </a:extLst>
          </p:cNvPr>
          <p:cNvSpPr>
            <a:spLocks noGrp="1"/>
          </p:cNvSpPr>
          <p:nvPr>
            <p:ph type="dt" sz="half" idx="10"/>
          </p:nvPr>
        </p:nvSpPr>
        <p:spPr/>
        <p:txBody>
          <a:bodyPr/>
          <a:lstStyle/>
          <a:p>
            <a:fld id="{CA0934F7-A01F-4593-A0CC-C6B9720A24A1}" type="datetimeFigureOut">
              <a:rPr lang="en-US" smtClean="0"/>
              <a:t>9/23/2026</a:t>
            </a:fld>
            <a:endParaRPr lang="en-US"/>
          </a:p>
        </p:txBody>
      </p:sp>
      <p:sp>
        <p:nvSpPr>
          <p:cNvPr id="5" name="Footer Placeholder 4">
            <a:extLst>
              <a:ext uri="{FF2B5EF4-FFF2-40B4-BE49-F238E27FC236}">
                <a16:creationId xmlns:a16="http://schemas.microsoft.com/office/drawing/2014/main" id="{A0BC4633-5DFE-7922-0313-E7150C1F5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8A75BE-AF88-3F69-0AE4-B3B7C047D890}"/>
              </a:ext>
            </a:extLst>
          </p:cNvPr>
          <p:cNvSpPr>
            <a:spLocks noGrp="1"/>
          </p:cNvSpPr>
          <p:nvPr>
            <p:ph type="sldNum" sz="quarter" idx="12"/>
          </p:nvPr>
        </p:nvSpPr>
        <p:spPr/>
        <p:txBody>
          <a:bodyPr/>
          <a:lstStyle/>
          <a:p>
            <a:fld id="{1A0021CD-514C-4C70-934D-1074D1B9886C}" type="slidenum">
              <a:rPr lang="en-US" smtClean="0"/>
              <a:t>‹#›</a:t>
            </a:fld>
            <a:endParaRPr lang="en-US"/>
          </a:p>
        </p:txBody>
      </p:sp>
    </p:spTree>
    <p:extLst>
      <p:ext uri="{BB962C8B-B14F-4D97-AF65-F5344CB8AC3E}">
        <p14:creationId xmlns:p14="http://schemas.microsoft.com/office/powerpoint/2010/main" val="2658631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CFCFDF-CDAB-4D0B-9BB3-2A3C995A78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3BD7EE-AA4A-C7FD-CE72-3768BD085D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CBD62C-AB83-D056-694C-AA8B5A0F43A2}"/>
              </a:ext>
            </a:extLst>
          </p:cNvPr>
          <p:cNvSpPr>
            <a:spLocks noGrp="1"/>
          </p:cNvSpPr>
          <p:nvPr>
            <p:ph type="dt" sz="half" idx="10"/>
          </p:nvPr>
        </p:nvSpPr>
        <p:spPr/>
        <p:txBody>
          <a:bodyPr/>
          <a:lstStyle/>
          <a:p>
            <a:fld id="{CA0934F7-A01F-4593-A0CC-C6B9720A24A1}" type="datetimeFigureOut">
              <a:rPr lang="en-US" smtClean="0"/>
              <a:t>9/23/2026</a:t>
            </a:fld>
            <a:endParaRPr lang="en-US"/>
          </a:p>
        </p:txBody>
      </p:sp>
      <p:sp>
        <p:nvSpPr>
          <p:cNvPr id="5" name="Footer Placeholder 4">
            <a:extLst>
              <a:ext uri="{FF2B5EF4-FFF2-40B4-BE49-F238E27FC236}">
                <a16:creationId xmlns:a16="http://schemas.microsoft.com/office/drawing/2014/main" id="{8192B3E3-F07F-2A65-E1DE-7D4111122D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E7F300-CB4C-7C5D-E9DA-01A980CD7F2E}"/>
              </a:ext>
            </a:extLst>
          </p:cNvPr>
          <p:cNvSpPr>
            <a:spLocks noGrp="1"/>
          </p:cNvSpPr>
          <p:nvPr>
            <p:ph type="sldNum" sz="quarter" idx="12"/>
          </p:nvPr>
        </p:nvSpPr>
        <p:spPr/>
        <p:txBody>
          <a:bodyPr/>
          <a:lstStyle/>
          <a:p>
            <a:fld id="{1A0021CD-514C-4C70-934D-1074D1B9886C}" type="slidenum">
              <a:rPr lang="en-US" smtClean="0"/>
              <a:t>‹#›</a:t>
            </a:fld>
            <a:endParaRPr lang="en-US"/>
          </a:p>
        </p:txBody>
      </p:sp>
    </p:spTree>
    <p:extLst>
      <p:ext uri="{BB962C8B-B14F-4D97-AF65-F5344CB8AC3E}">
        <p14:creationId xmlns:p14="http://schemas.microsoft.com/office/powerpoint/2010/main" val="300890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852C82-1F6A-C6FD-3B90-E5E01ED949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10BB69-DEA4-5483-5288-FDC38E0FFE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2D5070-DE93-1ACA-D8CF-661AF8CE5A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0934F7-A01F-4593-A0CC-C6B9720A24A1}" type="datetimeFigureOut">
              <a:rPr lang="en-US" smtClean="0"/>
              <a:t>9/23/2026</a:t>
            </a:fld>
            <a:endParaRPr lang="en-US"/>
          </a:p>
        </p:txBody>
      </p:sp>
      <p:sp>
        <p:nvSpPr>
          <p:cNvPr id="5" name="Footer Placeholder 4">
            <a:extLst>
              <a:ext uri="{FF2B5EF4-FFF2-40B4-BE49-F238E27FC236}">
                <a16:creationId xmlns:a16="http://schemas.microsoft.com/office/drawing/2014/main" id="{2AD7E823-892A-4F6C-F91A-7541569F41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AFEA423-A80E-B42D-3D41-686DAD4FFD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0021CD-514C-4C70-934D-1074D1B9886C}" type="slidenum">
              <a:rPr lang="en-US" smtClean="0"/>
              <a:t>‹#›</a:t>
            </a:fld>
            <a:endParaRPr lang="en-US"/>
          </a:p>
        </p:txBody>
      </p:sp>
    </p:spTree>
    <p:extLst>
      <p:ext uri="{BB962C8B-B14F-4D97-AF65-F5344CB8AC3E}">
        <p14:creationId xmlns:p14="http://schemas.microsoft.com/office/powerpoint/2010/main" val="2518264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ArrN4OrSNJI" TargetMode="External"/><Relationship Id="rId2" Type="http://schemas.openxmlformats.org/officeDocument/2006/relationships/hyperlink" Target="https://www.youtube.com/watch?v=Fa_V9fP2tpU&amp;t=8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0EE6A-E9AB-78B6-7F78-E26FA77ABAF9}"/>
              </a:ext>
            </a:extLst>
          </p:cNvPr>
          <p:cNvSpPr>
            <a:spLocks noGrp="1"/>
          </p:cNvSpPr>
          <p:nvPr>
            <p:ph type="ctrTitle"/>
          </p:nvPr>
        </p:nvSpPr>
        <p:spPr/>
        <p:txBody>
          <a:bodyPr>
            <a:normAutofit fontScale="90000"/>
          </a:bodyPr>
          <a:lstStyle/>
          <a:p>
            <a:r>
              <a:rPr lang="en-US" b="1" dirty="0"/>
              <a:t>COMP343 - Artificial Neural Networks &amp; Deep learning</a:t>
            </a:r>
            <a:br>
              <a:rPr lang="en-US" b="1" dirty="0"/>
            </a:br>
            <a:endParaRPr lang="en-US" dirty="0"/>
          </a:p>
        </p:txBody>
      </p:sp>
      <p:sp>
        <p:nvSpPr>
          <p:cNvPr id="3" name="Subtitle 2">
            <a:extLst>
              <a:ext uri="{FF2B5EF4-FFF2-40B4-BE49-F238E27FC236}">
                <a16:creationId xmlns:a16="http://schemas.microsoft.com/office/drawing/2014/main" id="{0BADA9C0-2776-532A-9439-52B22329E36B}"/>
              </a:ext>
            </a:extLst>
          </p:cNvPr>
          <p:cNvSpPr>
            <a:spLocks noGrp="1"/>
          </p:cNvSpPr>
          <p:nvPr>
            <p:ph type="subTitle" idx="1"/>
          </p:nvPr>
        </p:nvSpPr>
        <p:spPr/>
        <p:txBody>
          <a:bodyPr/>
          <a:lstStyle/>
          <a:p>
            <a:r>
              <a:rPr lang="en-US" dirty="0"/>
              <a:t>WEEK 1</a:t>
            </a:r>
          </a:p>
          <a:p>
            <a:r>
              <a:rPr lang="en-US" dirty="0"/>
              <a:t>Adnan Majeed</a:t>
            </a:r>
          </a:p>
        </p:txBody>
      </p:sp>
    </p:spTree>
    <p:extLst>
      <p:ext uri="{BB962C8B-B14F-4D97-AF65-F5344CB8AC3E}">
        <p14:creationId xmlns:p14="http://schemas.microsoft.com/office/powerpoint/2010/main" val="1497150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C6BDF-2DA2-3B5B-F53F-9A7A944508A7}"/>
              </a:ext>
            </a:extLst>
          </p:cNvPr>
          <p:cNvSpPr>
            <a:spLocks noGrp="1"/>
          </p:cNvSpPr>
          <p:nvPr>
            <p:ph type="title"/>
          </p:nvPr>
        </p:nvSpPr>
        <p:spPr/>
        <p:txBody>
          <a:bodyPr/>
          <a:lstStyle/>
          <a:p>
            <a:r>
              <a:rPr lang="en-US" dirty="0"/>
              <a:t>Machine learning basics	</a:t>
            </a:r>
          </a:p>
        </p:txBody>
      </p:sp>
      <p:sp>
        <p:nvSpPr>
          <p:cNvPr id="3" name="Content Placeholder 2">
            <a:extLst>
              <a:ext uri="{FF2B5EF4-FFF2-40B4-BE49-F238E27FC236}">
                <a16:creationId xmlns:a16="http://schemas.microsoft.com/office/drawing/2014/main" id="{F8A3CD0E-C430-7697-C7E2-15DA9DBAB817}"/>
              </a:ext>
            </a:extLst>
          </p:cNvPr>
          <p:cNvSpPr>
            <a:spLocks noGrp="1"/>
          </p:cNvSpPr>
          <p:nvPr>
            <p:ph idx="1"/>
          </p:nvPr>
        </p:nvSpPr>
        <p:spPr/>
        <p:txBody>
          <a:bodyPr/>
          <a:lstStyle/>
          <a:p>
            <a:r>
              <a:rPr lang="en-US" dirty="0"/>
              <a:t>Machine learning (ML) is a subset of artificial intelligence where computers find patterns in data to make predictions or decisions without being explicitly programmed.</a:t>
            </a:r>
          </a:p>
        </p:txBody>
      </p:sp>
    </p:spTree>
    <p:extLst>
      <p:ext uri="{BB962C8B-B14F-4D97-AF65-F5344CB8AC3E}">
        <p14:creationId xmlns:p14="http://schemas.microsoft.com/office/powerpoint/2010/main" val="505895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59D2F-FCC3-9188-9082-C4E8883E7159}"/>
              </a:ext>
            </a:extLst>
          </p:cNvPr>
          <p:cNvSpPr>
            <a:spLocks noGrp="1"/>
          </p:cNvSpPr>
          <p:nvPr>
            <p:ph type="title"/>
          </p:nvPr>
        </p:nvSpPr>
        <p:spPr/>
        <p:txBody>
          <a:bodyPr/>
          <a:lstStyle/>
          <a:p>
            <a:r>
              <a:rPr lang="en-US" dirty="0"/>
              <a:t>Data ?</a:t>
            </a:r>
          </a:p>
        </p:txBody>
      </p:sp>
      <p:pic>
        <p:nvPicPr>
          <p:cNvPr id="4" name="Content Placeholder 3">
            <a:extLst>
              <a:ext uri="{FF2B5EF4-FFF2-40B4-BE49-F238E27FC236}">
                <a16:creationId xmlns:a16="http://schemas.microsoft.com/office/drawing/2014/main" id="{387F73BA-9F74-58DE-A5FB-C1F9679905DF}"/>
              </a:ext>
            </a:extLst>
          </p:cNvPr>
          <p:cNvPicPr>
            <a:picLocks noGrp="1" noChangeAspect="1"/>
          </p:cNvPicPr>
          <p:nvPr>
            <p:ph idx="1"/>
          </p:nvPr>
        </p:nvPicPr>
        <p:blipFill>
          <a:blip r:embed="rId2"/>
          <a:stretch>
            <a:fillRect/>
          </a:stretch>
        </p:blipFill>
        <p:spPr>
          <a:xfrm>
            <a:off x="2371725" y="2139156"/>
            <a:ext cx="7448550" cy="3724275"/>
          </a:xfrm>
          <a:prstGeom prst="rect">
            <a:avLst/>
          </a:prstGeom>
        </p:spPr>
      </p:pic>
    </p:spTree>
    <p:extLst>
      <p:ext uri="{BB962C8B-B14F-4D97-AF65-F5344CB8AC3E}">
        <p14:creationId xmlns:p14="http://schemas.microsoft.com/office/powerpoint/2010/main" val="2990296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B074-F8B3-33D8-D9BB-5DB9750F28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EF5A678-74DF-9707-92B1-AEB27551F47C}"/>
              </a:ext>
            </a:extLst>
          </p:cNvPr>
          <p:cNvSpPr>
            <a:spLocks noGrp="1"/>
          </p:cNvSpPr>
          <p:nvPr>
            <p:ph idx="1"/>
          </p:nvPr>
        </p:nvSpPr>
        <p:spPr/>
        <p:txBody>
          <a:bodyPr/>
          <a:lstStyle/>
          <a:p>
            <a:pPr lvl="0"/>
            <a:r>
              <a:rPr lang="en-US" b="1" dirty="0"/>
              <a:t>Supervised Learning:</a:t>
            </a:r>
            <a:r>
              <a:rPr lang="en-US" dirty="0"/>
              <a:t> The model is trained on labeled data (historical examples with clear answers). For example, a model looks at thousands of emails labeled "spam" or "inbox" to learn how to filter future </a:t>
            </a:r>
            <a:r>
              <a:rPr lang="en-US" dirty="0" err="1"/>
              <a:t>emails.</a:t>
            </a:r>
            <a:r>
              <a:rPr lang="en-US" b="1" dirty="0" err="1"/>
              <a:t>Classification</a:t>
            </a:r>
            <a:r>
              <a:rPr lang="en-US" b="1" dirty="0"/>
              <a:t>:</a:t>
            </a:r>
            <a:r>
              <a:rPr lang="en-US" dirty="0"/>
              <a:t> Predicting a category, like identifying whether an image contains a cat or a dog.</a:t>
            </a:r>
          </a:p>
          <a:p>
            <a:pPr lvl="0"/>
            <a:r>
              <a:rPr lang="en-US" b="1" dirty="0"/>
              <a:t>Regression:</a:t>
            </a:r>
            <a:r>
              <a:rPr lang="en-US" dirty="0"/>
              <a:t> Predicting a continuous numeric value, like forecasting stock prices or housing market</a:t>
            </a:r>
          </a:p>
          <a:p>
            <a:endParaRPr lang="en-US" dirty="0"/>
          </a:p>
        </p:txBody>
      </p:sp>
    </p:spTree>
    <p:extLst>
      <p:ext uri="{BB962C8B-B14F-4D97-AF65-F5344CB8AC3E}">
        <p14:creationId xmlns:p14="http://schemas.microsoft.com/office/powerpoint/2010/main" val="975948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876A7-C184-3D2B-DF18-71B3914C61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B34D6F-AEAD-2166-6A0B-B71A0FC26421}"/>
              </a:ext>
            </a:extLst>
          </p:cNvPr>
          <p:cNvSpPr>
            <a:spLocks noGrp="1"/>
          </p:cNvSpPr>
          <p:nvPr>
            <p:ph idx="1"/>
          </p:nvPr>
        </p:nvSpPr>
        <p:spPr/>
        <p:txBody>
          <a:bodyPr/>
          <a:lstStyle/>
          <a:p>
            <a:pPr lvl="0"/>
            <a:r>
              <a:rPr lang="en-US" b="1" dirty="0"/>
              <a:t>Unsupervised Learning:</a:t>
            </a:r>
            <a:r>
              <a:rPr lang="en-US" dirty="0"/>
              <a:t> The model is given unlabeled data and must discover hidden structures, groupings, or patterns entirely on its own.</a:t>
            </a:r>
          </a:p>
          <a:p>
            <a:pPr lvl="1"/>
            <a:r>
              <a:rPr lang="en-US" b="1" dirty="0"/>
              <a:t>Clustering:</a:t>
            </a:r>
            <a:r>
              <a:rPr lang="en-US" dirty="0"/>
              <a:t> Automatically sorting customers into separate purchasing behavior groups for target marketing. [</a:t>
            </a:r>
            <a:r>
              <a:rPr lang="en-US" dirty="0">
                <a:hlinkClick r:id="rId2"/>
              </a:rPr>
              <a:t>1</a:t>
            </a:r>
            <a:r>
              <a:rPr lang="en-US" dirty="0"/>
              <a:t>, </a:t>
            </a:r>
            <a:r>
              <a:rPr lang="en-US" dirty="0">
                <a:hlinkClick r:id="rId3"/>
              </a:rPr>
              <a:t>2</a:t>
            </a:r>
            <a:r>
              <a:rPr lang="en-US" dirty="0"/>
              <a:t>]</a:t>
            </a:r>
          </a:p>
          <a:p>
            <a:pPr lvl="0"/>
            <a:r>
              <a:rPr lang="en-US" b="1" dirty="0"/>
              <a:t>Reinforcement Learning:</a:t>
            </a:r>
            <a:r>
              <a:rPr lang="en-US" dirty="0"/>
              <a:t> The model learns through trial and error within an environment. It receives positive rewards for correct choices and penalties for wrong choices, which is how autonomous vehicles and gaming AI are trained</a:t>
            </a:r>
          </a:p>
          <a:p>
            <a:endParaRPr lang="en-US" dirty="0"/>
          </a:p>
        </p:txBody>
      </p:sp>
    </p:spTree>
    <p:extLst>
      <p:ext uri="{BB962C8B-B14F-4D97-AF65-F5344CB8AC3E}">
        <p14:creationId xmlns:p14="http://schemas.microsoft.com/office/powerpoint/2010/main" val="577583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4AA2F-A22F-CD80-DA50-F6A601346656}"/>
              </a:ext>
            </a:extLst>
          </p:cNvPr>
          <p:cNvSpPr>
            <a:spLocks noGrp="1"/>
          </p:cNvSpPr>
          <p:nvPr>
            <p:ph type="title"/>
          </p:nvPr>
        </p:nvSpPr>
        <p:spPr/>
        <p:txBody>
          <a:bodyPr/>
          <a:lstStyle/>
          <a:p>
            <a:r>
              <a:rPr lang="en-US" dirty="0"/>
              <a:t>Introduction to Neural Networks &amp; Deep Learning</a:t>
            </a:r>
          </a:p>
        </p:txBody>
      </p:sp>
      <p:sp>
        <p:nvSpPr>
          <p:cNvPr id="3" name="Content Placeholder 2">
            <a:extLst>
              <a:ext uri="{FF2B5EF4-FFF2-40B4-BE49-F238E27FC236}">
                <a16:creationId xmlns:a16="http://schemas.microsoft.com/office/drawing/2014/main" id="{670D63AF-D00D-3D6A-03B6-FC3451BE37BE}"/>
              </a:ext>
            </a:extLst>
          </p:cNvPr>
          <p:cNvSpPr>
            <a:spLocks noGrp="1"/>
          </p:cNvSpPr>
          <p:nvPr>
            <p:ph idx="1"/>
          </p:nvPr>
        </p:nvSpPr>
        <p:spPr/>
        <p:txBody>
          <a:bodyPr/>
          <a:lstStyle/>
          <a:p>
            <a:r>
              <a:rPr lang="en-US" dirty="0"/>
              <a:t>Neural Networks are machine learning models inspired by the way the human brain processes information. They consist of interconnected layers of neurons that learn patterns from data and make predictions.</a:t>
            </a:r>
          </a:p>
        </p:txBody>
      </p:sp>
    </p:spTree>
    <p:extLst>
      <p:ext uri="{BB962C8B-B14F-4D97-AF65-F5344CB8AC3E}">
        <p14:creationId xmlns:p14="http://schemas.microsoft.com/office/powerpoint/2010/main" val="1876205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0164B-1B88-440F-E66A-02D1B3D3FFA0}"/>
              </a:ext>
            </a:extLst>
          </p:cNvPr>
          <p:cNvSpPr>
            <a:spLocks noGrp="1"/>
          </p:cNvSpPr>
          <p:nvPr>
            <p:ph type="title"/>
          </p:nvPr>
        </p:nvSpPr>
        <p:spPr/>
        <p:txBody>
          <a:bodyPr/>
          <a:lstStyle/>
          <a:p>
            <a:r>
              <a:rPr lang="en-US" b="1" dirty="0"/>
              <a:t>Neural Networks key components </a:t>
            </a:r>
            <a:endParaRPr lang="en-US" dirty="0"/>
          </a:p>
        </p:txBody>
      </p:sp>
      <p:sp>
        <p:nvSpPr>
          <p:cNvPr id="3" name="Content Placeholder 2">
            <a:extLst>
              <a:ext uri="{FF2B5EF4-FFF2-40B4-BE49-F238E27FC236}">
                <a16:creationId xmlns:a16="http://schemas.microsoft.com/office/drawing/2014/main" id="{AA9B8C88-1A62-4A32-6B43-674E42AC2198}"/>
              </a:ext>
            </a:extLst>
          </p:cNvPr>
          <p:cNvSpPr>
            <a:spLocks noGrp="1"/>
          </p:cNvSpPr>
          <p:nvPr>
            <p:ph idx="1"/>
          </p:nvPr>
        </p:nvSpPr>
        <p:spPr/>
        <p:txBody>
          <a:bodyPr>
            <a:normAutofit lnSpcReduction="10000"/>
          </a:bodyPr>
          <a:lstStyle/>
          <a:p>
            <a:pPr lvl="0" fontAlgn="base"/>
            <a:r>
              <a:rPr lang="en-US" b="1" dirty="0"/>
              <a:t>Neurons</a:t>
            </a:r>
            <a:r>
              <a:rPr lang="en-US" dirty="0"/>
              <a:t>: The basic units that receive inputs, each neuron is governed by a threshold and an activation function.</a:t>
            </a:r>
          </a:p>
          <a:p>
            <a:pPr lvl="0" fontAlgn="base"/>
            <a:r>
              <a:rPr lang="en-US" b="1" dirty="0"/>
              <a:t>Connections</a:t>
            </a:r>
            <a:r>
              <a:rPr lang="en-US" dirty="0"/>
              <a:t>: Links between neurons that carry information, regulated by weights and biases.</a:t>
            </a:r>
          </a:p>
          <a:p>
            <a:pPr lvl="0" fontAlgn="base"/>
            <a:r>
              <a:rPr lang="en-US" b="1" dirty="0"/>
              <a:t>Weights and Biases</a:t>
            </a:r>
            <a:r>
              <a:rPr lang="en-US" dirty="0"/>
              <a:t>: These parameters determine the strength and influence of connections.</a:t>
            </a:r>
          </a:p>
          <a:p>
            <a:pPr lvl="0" fontAlgn="base"/>
            <a:r>
              <a:rPr lang="en-US" b="1" dirty="0"/>
              <a:t>Propagation Functions</a:t>
            </a:r>
            <a:r>
              <a:rPr lang="en-US" dirty="0"/>
              <a:t>: Mechanisms that help process and transfer data across layers of neurons.</a:t>
            </a:r>
          </a:p>
          <a:p>
            <a:pPr lvl="0" fontAlgn="base"/>
            <a:r>
              <a:rPr lang="en-US" b="1" dirty="0"/>
              <a:t>Learning Rule</a:t>
            </a:r>
            <a:r>
              <a:rPr lang="en-US" dirty="0"/>
              <a:t>: The method that adjusts weights and biases over time to improve accuracy.</a:t>
            </a:r>
          </a:p>
          <a:p>
            <a:endParaRPr lang="en-US" dirty="0"/>
          </a:p>
        </p:txBody>
      </p:sp>
    </p:spTree>
    <p:extLst>
      <p:ext uri="{BB962C8B-B14F-4D97-AF65-F5344CB8AC3E}">
        <p14:creationId xmlns:p14="http://schemas.microsoft.com/office/powerpoint/2010/main" val="1096036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2C53E-161A-1B41-03CA-8AA0CAA371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AFC6E8-D275-4106-F504-7D5B1507E5F8}"/>
              </a:ext>
            </a:extLst>
          </p:cNvPr>
          <p:cNvSpPr>
            <a:spLocks noGrp="1"/>
          </p:cNvSpPr>
          <p:nvPr>
            <p:ph idx="1"/>
          </p:nvPr>
        </p:nvSpPr>
        <p:spPr/>
        <p:txBody>
          <a:bodyPr>
            <a:normAutofit fontScale="92500"/>
          </a:bodyPr>
          <a:lstStyle/>
          <a:p>
            <a:pPr lvl="0" fontAlgn="base"/>
            <a:r>
              <a:rPr lang="en-US" b="1" dirty="0"/>
              <a:t>Identify Complex Patterns:</a:t>
            </a:r>
            <a:r>
              <a:rPr lang="en-US" dirty="0"/>
              <a:t> Recognize intricate structures and relationships in data; adapt to dynamic and changing environments.</a:t>
            </a:r>
          </a:p>
          <a:p>
            <a:pPr lvl="0" fontAlgn="base"/>
            <a:r>
              <a:rPr lang="en-US" b="1" dirty="0"/>
              <a:t>Learn from Data:</a:t>
            </a:r>
            <a:r>
              <a:rPr lang="en-US" dirty="0"/>
              <a:t> Handle vast datasets efficiently; improve performance with experience and retraining.</a:t>
            </a:r>
          </a:p>
          <a:p>
            <a:pPr lvl="0" fontAlgn="base"/>
            <a:r>
              <a:rPr lang="en-US" b="1" dirty="0"/>
              <a:t>Drive Key Technologies:</a:t>
            </a:r>
            <a:r>
              <a:rPr lang="en-US" dirty="0"/>
              <a:t> Power natural language processing (NLP); enable self-driving vehicles; support automated decision-making systems.</a:t>
            </a:r>
          </a:p>
          <a:p>
            <a:pPr lvl="0" fontAlgn="base"/>
            <a:r>
              <a:rPr lang="en-US" b="1" dirty="0"/>
              <a:t>Boost Efficiency:</a:t>
            </a:r>
            <a:r>
              <a:rPr lang="en-US" dirty="0"/>
              <a:t> Streamline workflows and processes; enhance productivity across industries.</a:t>
            </a:r>
          </a:p>
          <a:p>
            <a:pPr lvl="0" fontAlgn="base"/>
            <a:r>
              <a:rPr lang="en-US" b="1" dirty="0"/>
              <a:t>Backbone of AI:</a:t>
            </a:r>
            <a:r>
              <a:rPr lang="en-US" dirty="0"/>
              <a:t> Serve as the core driver of artificial intelligence progress; continue shaping the future of technology and innovation.</a:t>
            </a:r>
          </a:p>
          <a:p>
            <a:endParaRPr lang="en-US" dirty="0"/>
          </a:p>
        </p:txBody>
      </p:sp>
    </p:spTree>
    <p:extLst>
      <p:ext uri="{BB962C8B-B14F-4D97-AF65-F5344CB8AC3E}">
        <p14:creationId xmlns:p14="http://schemas.microsoft.com/office/powerpoint/2010/main" val="4132851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_neural_network">
            <a:extLst>
              <a:ext uri="{FF2B5EF4-FFF2-40B4-BE49-F238E27FC236}">
                <a16:creationId xmlns:a16="http://schemas.microsoft.com/office/drawing/2014/main" id="{3767A668-8E0D-45B9-AF83-676E8F808E3B}"/>
              </a:ext>
            </a:extLst>
          </p:cNvPr>
          <p:cNvPicPr>
            <a:picLocks noGrp="1" noChangeAspect="1"/>
          </p:cNvPicPr>
          <p:nvPr>
            <p:ph idx="1"/>
          </p:nvPr>
        </p:nvPicPr>
        <p:blipFill>
          <a:blip r:embed="rId2"/>
          <a:stretch>
            <a:fillRect/>
          </a:stretch>
        </p:blipFill>
        <p:spPr>
          <a:xfrm>
            <a:off x="1056079" y="1678899"/>
            <a:ext cx="9009576" cy="4151612"/>
          </a:xfrm>
          <a:prstGeom prst="rect">
            <a:avLst/>
          </a:prstGeom>
        </p:spPr>
      </p:pic>
    </p:spTree>
    <p:extLst>
      <p:ext uri="{BB962C8B-B14F-4D97-AF65-F5344CB8AC3E}">
        <p14:creationId xmlns:p14="http://schemas.microsoft.com/office/powerpoint/2010/main" val="763875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AE90D-1B89-42AA-B18F-2D03E5995B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B8488B-A15F-EED3-EF86-2618AC4BBC86}"/>
              </a:ext>
            </a:extLst>
          </p:cNvPr>
          <p:cNvSpPr>
            <a:spLocks noGrp="1"/>
          </p:cNvSpPr>
          <p:nvPr>
            <p:ph idx="1"/>
          </p:nvPr>
        </p:nvSpPr>
        <p:spPr/>
        <p:txBody>
          <a:bodyPr/>
          <a:lstStyle/>
          <a:p>
            <a:pPr lvl="0" fontAlgn="base"/>
            <a:r>
              <a:rPr lang="en-US" b="1" dirty="0"/>
              <a:t>Input Layer:</a:t>
            </a:r>
            <a:r>
              <a:rPr lang="en-US" dirty="0"/>
              <a:t> This is where the network receives its input data. Each input neuron in the layer corresponds to a feature in the input data.</a:t>
            </a:r>
          </a:p>
          <a:p>
            <a:pPr lvl="0" fontAlgn="base"/>
            <a:r>
              <a:rPr lang="en-US" b="1" dirty="0"/>
              <a:t>Hidden Layers:</a:t>
            </a:r>
            <a:r>
              <a:rPr lang="en-US" dirty="0"/>
              <a:t> These layers perform most of the computational heavy lifting. A neural network can have one or multiple hidden layers. Each layer consists of units (neurons) that transform the inputs into something that the output layer can use.</a:t>
            </a:r>
          </a:p>
          <a:p>
            <a:pPr lvl="0" fontAlgn="base"/>
            <a:r>
              <a:rPr lang="en-US" b="1" dirty="0"/>
              <a:t>Output Layer:</a:t>
            </a:r>
            <a:r>
              <a:rPr lang="en-US" dirty="0"/>
              <a:t> The final layer produces the output of the model. The format of these outputs varies depending on the specific task like classification, regression.</a:t>
            </a:r>
          </a:p>
          <a:p>
            <a:endParaRPr lang="en-US" dirty="0"/>
          </a:p>
        </p:txBody>
      </p:sp>
    </p:spTree>
    <p:extLst>
      <p:ext uri="{BB962C8B-B14F-4D97-AF65-F5344CB8AC3E}">
        <p14:creationId xmlns:p14="http://schemas.microsoft.com/office/powerpoint/2010/main" val="328078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D5A11-C3BE-CAD4-A737-EA4CA7807B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91D307-24A2-C24F-7991-0E90F56BD379}"/>
              </a:ext>
            </a:extLst>
          </p:cNvPr>
          <p:cNvSpPr>
            <a:spLocks noGrp="1"/>
          </p:cNvSpPr>
          <p:nvPr>
            <p:ph idx="1"/>
          </p:nvPr>
        </p:nvSpPr>
        <p:spPr/>
        <p:txBody>
          <a:bodyPr/>
          <a:lstStyle/>
          <a:p>
            <a:pPr fontAlgn="base"/>
            <a:r>
              <a:rPr lang="en-US" b="1" dirty="0"/>
              <a:t>Working of Neural Networks</a:t>
            </a:r>
          </a:p>
          <a:p>
            <a:pPr fontAlgn="base"/>
            <a:r>
              <a:rPr lang="en-US" b="1" dirty="0"/>
              <a:t>1. Forward Propagation</a:t>
            </a:r>
          </a:p>
          <a:p>
            <a:pPr fontAlgn="base"/>
            <a:r>
              <a:rPr lang="en-US" dirty="0"/>
              <a:t>When data is input into the network, it passes through the network in the forward direction, from the input layer through the hidden layers to the output layer.</a:t>
            </a:r>
          </a:p>
          <a:p>
            <a:endParaRPr lang="en-US" dirty="0"/>
          </a:p>
        </p:txBody>
      </p:sp>
    </p:spTree>
    <p:extLst>
      <p:ext uri="{BB962C8B-B14F-4D97-AF65-F5344CB8AC3E}">
        <p14:creationId xmlns:p14="http://schemas.microsoft.com/office/powerpoint/2010/main" val="1761709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DE20B-92E4-C783-A145-E98FC248BCE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12B70C-005B-E5BE-D8AC-4B06D8F39690}"/>
              </a:ext>
            </a:extLst>
          </p:cNvPr>
          <p:cNvSpPr>
            <a:spLocks noGrp="1"/>
          </p:cNvSpPr>
          <p:nvPr>
            <p:ph idx="1"/>
          </p:nvPr>
        </p:nvSpPr>
        <p:spPr/>
        <p:txBody>
          <a:bodyPr>
            <a:normAutofit fontScale="92500" lnSpcReduction="20000"/>
          </a:bodyPr>
          <a:lstStyle/>
          <a:p>
            <a:pPr fontAlgn="base"/>
            <a:r>
              <a:rPr lang="en-US" b="1" dirty="0"/>
              <a:t>Backpropagation</a:t>
            </a:r>
          </a:p>
          <a:p>
            <a:pPr fontAlgn="base"/>
            <a:r>
              <a:rPr lang="en-US" dirty="0"/>
              <a:t>After forward propagation, the network evaluates its performance using a loss function which measures the difference between the actual output and the predicted output. The goal of training is to minimize this loss. This is where backpropagation comes into play:</a:t>
            </a:r>
          </a:p>
          <a:p>
            <a:pPr lvl="0" fontAlgn="base"/>
            <a:r>
              <a:rPr lang="en-US" b="1" dirty="0"/>
              <a:t>Loss Calculation:</a:t>
            </a:r>
            <a:r>
              <a:rPr lang="en-US" dirty="0"/>
              <a:t> The network calculates the loss which provides a measure of error in the predictions. The loss function could vary; common choices are mean squared error for regression tasks or cross-entropy loss for classification.</a:t>
            </a:r>
          </a:p>
          <a:p>
            <a:pPr lvl="0" fontAlgn="base"/>
            <a:r>
              <a:rPr lang="en-US" b="1" dirty="0"/>
              <a:t>Gradient Calculation:</a:t>
            </a:r>
            <a:r>
              <a:rPr lang="en-US" dirty="0"/>
              <a:t> The network computes the gradients of the loss function with respect to each weight and bias in the network. This involves applying the chain rule of calculus to find out how much each part of the output error can be attributed to each weight and bias.</a:t>
            </a:r>
          </a:p>
          <a:p>
            <a:endParaRPr lang="en-US" dirty="0"/>
          </a:p>
        </p:txBody>
      </p:sp>
    </p:spTree>
    <p:extLst>
      <p:ext uri="{BB962C8B-B14F-4D97-AF65-F5344CB8AC3E}">
        <p14:creationId xmlns:p14="http://schemas.microsoft.com/office/powerpoint/2010/main" val="1291202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6EED0CE2-9F56-95B8-231E-146EDB1067A8}"/>
              </a:ext>
            </a:extLst>
          </p:cNvPr>
          <p:cNvPicPr>
            <a:picLocks noGrp="1" noChangeAspect="1"/>
          </p:cNvPicPr>
          <p:nvPr>
            <p:ph idx="1"/>
          </p:nvPr>
        </p:nvPicPr>
        <p:blipFill>
          <a:blip r:embed="rId2"/>
          <a:stretch>
            <a:fillRect/>
          </a:stretch>
        </p:blipFill>
        <p:spPr>
          <a:xfrm>
            <a:off x="704278" y="1199211"/>
            <a:ext cx="10783444" cy="3913229"/>
          </a:xfrm>
          <a:prstGeom prst="rect">
            <a:avLst/>
          </a:prstGeom>
        </p:spPr>
      </p:pic>
    </p:spTree>
    <p:extLst>
      <p:ext uri="{BB962C8B-B14F-4D97-AF65-F5344CB8AC3E}">
        <p14:creationId xmlns:p14="http://schemas.microsoft.com/office/powerpoint/2010/main" val="3653261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F4229-C8BA-81D6-BCA0-2A6BDC77584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9CA2D5F-1190-0286-2762-118B2640133B}"/>
              </a:ext>
            </a:extLst>
          </p:cNvPr>
          <p:cNvSpPr>
            <a:spLocks noGrp="1"/>
          </p:cNvSpPr>
          <p:nvPr>
            <p:ph idx="1"/>
          </p:nvPr>
        </p:nvSpPr>
        <p:spPr/>
        <p:txBody>
          <a:bodyPr/>
          <a:lstStyle/>
          <a:p>
            <a:pPr fontAlgn="base"/>
            <a:r>
              <a:rPr lang="en-US" dirty="0"/>
              <a:t>To classify this email, we will create a feature vector based on the analysis of keywords such as "free" "win" and "offer"</a:t>
            </a:r>
          </a:p>
          <a:p>
            <a:pPr fontAlgn="base"/>
            <a:r>
              <a:rPr lang="en-US" b="1" dirty="0"/>
              <a:t>The resulting feature vector is:</a:t>
            </a:r>
            <a:endParaRPr lang="en-US" dirty="0"/>
          </a:p>
          <a:p>
            <a:pPr lvl="0" fontAlgn="base"/>
            <a:r>
              <a:rPr lang="en-US" b="1" dirty="0"/>
              <a:t>free: </a:t>
            </a:r>
            <a:r>
              <a:rPr lang="en-US" dirty="0"/>
              <a:t>Present (1)</a:t>
            </a:r>
          </a:p>
          <a:p>
            <a:pPr lvl="0" fontAlgn="base"/>
            <a:r>
              <a:rPr lang="en-US" b="1" dirty="0"/>
              <a:t>win: </a:t>
            </a:r>
            <a:r>
              <a:rPr lang="en-US" dirty="0"/>
              <a:t>Absent (0)</a:t>
            </a:r>
          </a:p>
          <a:p>
            <a:pPr lvl="0" fontAlgn="base"/>
            <a:r>
              <a:rPr lang="en-US" b="1" dirty="0"/>
              <a:t>offer:</a:t>
            </a:r>
            <a:r>
              <a:rPr lang="en-US" dirty="0"/>
              <a:t> Present (1)</a:t>
            </a:r>
          </a:p>
          <a:p>
            <a:pPr fontAlgn="base"/>
            <a:r>
              <a:rPr lang="en-US" b="1" dirty="0"/>
              <a:t>Feature Vector:</a:t>
            </a:r>
            <a:endParaRPr lang="en-US" dirty="0"/>
          </a:p>
          <a:p>
            <a:pPr fontAlgn="base"/>
            <a:r>
              <a:rPr lang="en-US" i="1" dirty="0"/>
              <a:t>[1, 0, 1]</a:t>
            </a:r>
          </a:p>
          <a:p>
            <a:endParaRPr lang="en-US" dirty="0"/>
          </a:p>
        </p:txBody>
      </p:sp>
    </p:spTree>
    <p:extLst>
      <p:ext uri="{BB962C8B-B14F-4D97-AF65-F5344CB8AC3E}">
        <p14:creationId xmlns:p14="http://schemas.microsoft.com/office/powerpoint/2010/main" val="2536488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317A9-B282-4953-FF43-D4F6ABBDFA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E413DA-06A0-0F0B-9B4F-20F830AE6AB9}"/>
              </a:ext>
            </a:extLst>
          </p:cNvPr>
          <p:cNvSpPr>
            <a:spLocks noGrp="1"/>
          </p:cNvSpPr>
          <p:nvPr>
            <p:ph idx="1"/>
          </p:nvPr>
        </p:nvSpPr>
        <p:spPr/>
        <p:txBody>
          <a:bodyPr>
            <a:normAutofit fontScale="77500" lnSpcReduction="20000"/>
          </a:bodyPr>
          <a:lstStyle/>
          <a:p>
            <a:pPr fontAlgn="base"/>
            <a:r>
              <a:rPr lang="en-US" dirty="0"/>
              <a:t>The feature vector is passed through the neural network, where each neuron computes a weighted sum of the inputs and applies an activation function to produce its output.</a:t>
            </a:r>
          </a:p>
          <a:p>
            <a:pPr fontAlgn="base"/>
            <a:r>
              <a:rPr lang="en-US" b="1" dirty="0"/>
              <a:t>Hidden Layer Calculation:</a:t>
            </a:r>
            <a:endParaRPr lang="en-US" dirty="0"/>
          </a:p>
          <a:p>
            <a:pPr fontAlgn="base"/>
            <a:r>
              <a:rPr lang="en-US" dirty="0"/>
              <a:t>Assume the hidden layer contains two neurons with the following weights</a:t>
            </a:r>
          </a:p>
          <a:p>
            <a:pPr lvl="0" fontAlgn="base"/>
            <a:r>
              <a:rPr lang="en-US" dirty="0"/>
              <a:t>Neuron H1: [ 0.5, −0.2, 0.3]</a:t>
            </a:r>
          </a:p>
          <a:p>
            <a:pPr lvl="0" fontAlgn="base"/>
            <a:r>
              <a:rPr lang="en-US" dirty="0"/>
              <a:t>Neuron H2: [ 0.4, 0.1, −0.5]</a:t>
            </a:r>
          </a:p>
          <a:p>
            <a:pPr fontAlgn="base"/>
            <a:r>
              <a:rPr lang="en-US" dirty="0"/>
              <a:t>For the input vector [1, 0, 1], the weighted sums are:</a:t>
            </a:r>
          </a:p>
          <a:p>
            <a:pPr lvl="0" fontAlgn="base"/>
            <a:r>
              <a:rPr lang="en-US" b="1" dirty="0"/>
              <a:t>For H1: (</a:t>
            </a:r>
            <a:r>
              <a:rPr lang="en-US" dirty="0"/>
              <a:t>1 × 0.5) +(0 ×− 0.2) + ( 1 × 0.3) = 0.5 + 0+ 0.3 = 0.8</a:t>
            </a:r>
          </a:p>
          <a:p>
            <a:pPr lvl="0" fontAlgn="base"/>
            <a:r>
              <a:rPr lang="en-US" b="1" dirty="0"/>
              <a:t>For H2: </a:t>
            </a:r>
            <a:r>
              <a:rPr lang="en-US" dirty="0"/>
              <a:t>(1 × 0.4) +(0 × 0.1) + ( 1 × −0.5) = 0.4 + 0 −0.5 =−0.1</a:t>
            </a:r>
          </a:p>
          <a:p>
            <a:pPr fontAlgn="base"/>
            <a:r>
              <a:rPr lang="en-US" b="1" dirty="0"/>
              <a:t>Applying the </a:t>
            </a:r>
            <a:r>
              <a:rPr lang="en-US" b="1" dirty="0" err="1"/>
              <a:t>ReLU</a:t>
            </a:r>
            <a:r>
              <a:rPr lang="en-US" b="1" dirty="0"/>
              <a:t> activation function:</a:t>
            </a:r>
            <a:endParaRPr lang="en-US" dirty="0"/>
          </a:p>
          <a:p>
            <a:pPr lvl="0" fontAlgn="base"/>
            <a:r>
              <a:rPr lang="en-US" b="1" dirty="0"/>
              <a:t>H1 Output:</a:t>
            </a:r>
            <a:r>
              <a:rPr lang="en-US" dirty="0"/>
              <a:t> </a:t>
            </a:r>
            <a:r>
              <a:rPr lang="en-US" dirty="0" err="1"/>
              <a:t>ReLU</a:t>
            </a:r>
            <a:r>
              <a:rPr lang="en-US" dirty="0"/>
              <a:t>(0.8) = 0.8</a:t>
            </a:r>
          </a:p>
          <a:p>
            <a:pPr lvl="0" fontAlgn="base"/>
            <a:r>
              <a:rPr lang="en-US" b="1" dirty="0"/>
              <a:t>H2 Output:</a:t>
            </a:r>
            <a:r>
              <a:rPr lang="en-US" dirty="0"/>
              <a:t> </a:t>
            </a:r>
            <a:r>
              <a:rPr lang="en-US" dirty="0" err="1"/>
              <a:t>ReLu</a:t>
            </a:r>
            <a:r>
              <a:rPr lang="en-US" dirty="0"/>
              <a:t>(-0.1) = 0</a:t>
            </a:r>
          </a:p>
          <a:p>
            <a:endParaRPr lang="en-US" dirty="0"/>
          </a:p>
        </p:txBody>
      </p:sp>
    </p:spTree>
    <p:extLst>
      <p:ext uri="{BB962C8B-B14F-4D97-AF65-F5344CB8AC3E}">
        <p14:creationId xmlns:p14="http://schemas.microsoft.com/office/powerpoint/2010/main" val="2998552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294BD-7F59-F8B4-95D8-BD36D328BE7E}"/>
              </a:ext>
            </a:extLst>
          </p:cNvPr>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41692C9-BBEE-34B9-55D5-D90D0D1277BC}"/>
                  </a:ext>
                </a:extLst>
              </p:cNvPr>
              <p:cNvSpPr>
                <a:spLocks noGrp="1"/>
              </p:cNvSpPr>
              <p:nvPr>
                <p:ph idx="1"/>
              </p:nvPr>
            </p:nvSpPr>
            <p:spPr/>
            <p:txBody>
              <a:bodyPr>
                <a:normAutofit fontScale="92500" lnSpcReduction="20000"/>
              </a:bodyPr>
              <a:lstStyle/>
              <a:p>
                <a:pPr fontAlgn="base"/>
                <a:r>
                  <a:rPr lang="en-US" b="1" dirty="0"/>
                  <a:t>Output Layer: </a:t>
                </a:r>
                <a:r>
                  <a:rPr lang="en-US" dirty="0"/>
                  <a:t>The outputs from the hidden layer are then passed to the output neuron.</a:t>
                </a:r>
              </a:p>
              <a:p>
                <a:pPr lvl="0" fontAlgn="base"/>
                <a:r>
                  <a:rPr lang="en-US" b="1" dirty="0"/>
                  <a:t>Output Weights: </a:t>
                </a:r>
                <a:r>
                  <a:rPr lang="en-US" dirty="0"/>
                  <a:t>[0.7, 0.2]</a:t>
                </a:r>
              </a:p>
              <a:p>
                <a:pPr lvl="0" fontAlgn="base"/>
                <a:r>
                  <a:rPr lang="en-US" b="1" dirty="0"/>
                  <a:t>Input from Hidden Layer: </a:t>
                </a:r>
                <a:r>
                  <a:rPr lang="en-US" dirty="0"/>
                  <a:t>[0.8, 0]</a:t>
                </a:r>
              </a:p>
              <a:p>
                <a:pPr lvl="0" fontAlgn="base"/>
                <a:r>
                  <a:rPr lang="en-US" b="1" dirty="0"/>
                  <a:t>Weighted Sum: </a:t>
                </a:r>
                <a:r>
                  <a:rPr lang="en-US" dirty="0"/>
                  <a:t>(0.8×0.7)+(0×0.2)=0.56+0=0.56</a:t>
                </a:r>
              </a:p>
              <a:p>
                <a:pPr lvl="0" fontAlgn="base"/>
                <a:r>
                  <a:rPr lang="en-US" b="1" dirty="0"/>
                  <a:t>Activation (Sigmoid): </a:t>
                </a:r>
                <a14:m>
                  <m:oMath xmlns:m="http://schemas.openxmlformats.org/officeDocument/2006/math">
                    <m:r>
                      <a:rPr lang="en-US" i="1"/>
                      <m:t>𝜎</m:t>
                    </m:r>
                    <m:d>
                      <m:dPr>
                        <m:ctrlPr>
                          <a:rPr lang="en-US"/>
                        </m:ctrlPr>
                      </m:dPr>
                      <m:e>
                        <m:r>
                          <a:rPr lang="en-US"/>
                          <m:t>0.56</m:t>
                        </m:r>
                      </m:e>
                    </m:d>
                    <m:r>
                      <a:rPr lang="en-US"/>
                      <m:t>=</m:t>
                    </m:r>
                    <m:f>
                      <m:fPr>
                        <m:ctrlPr>
                          <a:rPr lang="en-US"/>
                        </m:ctrlPr>
                      </m:fPr>
                      <m:num>
                        <m:r>
                          <a:rPr lang="en-US"/>
                          <m:t>1</m:t>
                        </m:r>
                      </m:num>
                      <m:den>
                        <m:r>
                          <a:rPr lang="en-US"/>
                          <m:t>1+</m:t>
                        </m:r>
                        <m:sSup>
                          <m:sSupPr>
                            <m:ctrlPr>
                              <a:rPr lang="en-US" i="1"/>
                            </m:ctrlPr>
                          </m:sSupPr>
                          <m:e>
                            <m:r>
                              <a:rPr lang="en-US" i="1"/>
                              <m:t>𝑒</m:t>
                            </m:r>
                          </m:e>
                          <m:sup>
                            <m:r>
                              <a:rPr lang="en-US"/>
                              <m:t>−0.56</m:t>
                            </m:r>
                          </m:sup>
                        </m:sSup>
                      </m:den>
                    </m:f>
                    <m:r>
                      <a:rPr lang="en-US"/>
                      <m:t>≈0.636</m:t>
                    </m:r>
                  </m:oMath>
                </a14:m>
                <a:endParaRPr lang="en-US" dirty="0"/>
              </a:p>
              <a:p>
                <a:pPr fontAlgn="base"/>
                <a:r>
                  <a:rPr lang="en-US" b="1" dirty="0"/>
                  <a:t>Final Classification:</a:t>
                </a:r>
                <a:endParaRPr lang="en-US" dirty="0"/>
              </a:p>
              <a:p>
                <a:pPr lvl="0" fontAlgn="base"/>
                <a:r>
                  <a:rPr lang="en-US" dirty="0"/>
                  <a:t>The output value of approximately </a:t>
                </a:r>
                <a:r>
                  <a:rPr lang="en-US" b="1" dirty="0"/>
                  <a:t>0.636</a:t>
                </a:r>
                <a:r>
                  <a:rPr lang="en-US" dirty="0"/>
                  <a:t> indicates the probability of the email being spam.</a:t>
                </a:r>
              </a:p>
              <a:p>
                <a:pPr lvl="0" fontAlgn="base"/>
                <a:r>
                  <a:rPr lang="en-US" dirty="0"/>
                  <a:t>Since this value is greater than 0.5, the neural network classifies the email as spam (1).</a:t>
                </a:r>
              </a:p>
              <a:p>
                <a:endParaRPr lang="en-US" dirty="0"/>
              </a:p>
            </p:txBody>
          </p:sp>
        </mc:Choice>
        <mc:Fallback>
          <p:sp>
            <p:nvSpPr>
              <p:cNvPr id="3" name="Content Placeholder 2">
                <a:extLst>
                  <a:ext uri="{FF2B5EF4-FFF2-40B4-BE49-F238E27FC236}">
                    <a16:creationId xmlns:a16="http://schemas.microsoft.com/office/drawing/2014/main" id="{A41692C9-BBEE-34B9-55D5-D90D0D1277BC}"/>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p:spTree>
    <p:extLst>
      <p:ext uri="{BB962C8B-B14F-4D97-AF65-F5344CB8AC3E}">
        <p14:creationId xmlns:p14="http://schemas.microsoft.com/office/powerpoint/2010/main" val="3645949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backpropagation_in_neural_network_8">
            <a:extLst>
              <a:ext uri="{FF2B5EF4-FFF2-40B4-BE49-F238E27FC236}">
                <a16:creationId xmlns:a16="http://schemas.microsoft.com/office/drawing/2014/main" id="{9D89F26C-1A24-F6A6-2BF7-A3D5DF2D65B5}"/>
              </a:ext>
            </a:extLst>
          </p:cNvPr>
          <p:cNvPicPr>
            <a:picLocks noGrp="1" noChangeAspect="1"/>
          </p:cNvPicPr>
          <p:nvPr>
            <p:ph idx="1"/>
          </p:nvPr>
        </p:nvPicPr>
        <p:blipFill>
          <a:blip r:embed="rId2"/>
          <a:stretch>
            <a:fillRect/>
          </a:stretch>
        </p:blipFill>
        <p:spPr>
          <a:xfrm>
            <a:off x="980164" y="536471"/>
            <a:ext cx="10139699" cy="5069850"/>
          </a:xfrm>
          <a:prstGeom prst="rect">
            <a:avLst/>
          </a:prstGeom>
        </p:spPr>
      </p:pic>
    </p:spTree>
    <p:extLst>
      <p:ext uri="{BB962C8B-B14F-4D97-AF65-F5344CB8AC3E}">
        <p14:creationId xmlns:p14="http://schemas.microsoft.com/office/powerpoint/2010/main" val="2583148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3AE49-284F-09AE-67CD-6847EF1144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E3F0D9-863E-7DC7-692C-435A5A72B6CC}"/>
              </a:ext>
            </a:extLst>
          </p:cNvPr>
          <p:cNvSpPr>
            <a:spLocks noGrp="1"/>
          </p:cNvSpPr>
          <p:nvPr>
            <p:ph idx="1"/>
          </p:nvPr>
        </p:nvSpPr>
        <p:spPr/>
        <p:txBody>
          <a:bodyPr>
            <a:normAutofit fontScale="92500" lnSpcReduction="20000"/>
          </a:bodyPr>
          <a:lstStyle/>
          <a:p>
            <a:pPr fontAlgn="base"/>
            <a:r>
              <a:rPr lang="en-US" b="1" dirty="0"/>
              <a:t>Learning of a Neural Network</a:t>
            </a:r>
          </a:p>
          <a:p>
            <a:pPr fontAlgn="base"/>
            <a:r>
              <a:rPr lang="en-US" b="1" dirty="0"/>
              <a:t>1. Learning with Supervised Learning</a:t>
            </a:r>
          </a:p>
          <a:p>
            <a:pPr fontAlgn="base"/>
            <a:r>
              <a:rPr lang="en-US" dirty="0"/>
              <a:t>In supervised learning, a neural network learns from labeled input-output pairs provided by a teacher. The network generates outputs based on inputs and by comparing these outputs to the known desired outputs, an error signal is created. The network iteratively adjusts its parameters to minimize errors until it reaches an acceptable performance level.</a:t>
            </a:r>
          </a:p>
          <a:p>
            <a:pPr fontAlgn="base"/>
            <a:r>
              <a:rPr lang="en-US" b="1" dirty="0"/>
              <a:t>2. Learning with Unsupervised Learning</a:t>
            </a:r>
          </a:p>
          <a:p>
            <a:pPr fontAlgn="base"/>
            <a:r>
              <a:rPr lang="en-US" dirty="0"/>
              <a:t>Unsupervised learning involves data without labeled output variables. The primary goal is to understand the underlying structure of the input data (X). Unlike supervised learning, there is no instructor to guide the process. Instead, the focus is on modeling data patterns and relationships, with techniques like clustering and association commonly used.</a:t>
            </a:r>
          </a:p>
          <a:p>
            <a:endParaRPr lang="en-US" dirty="0"/>
          </a:p>
        </p:txBody>
      </p:sp>
    </p:spTree>
    <p:extLst>
      <p:ext uri="{BB962C8B-B14F-4D97-AF65-F5344CB8AC3E}">
        <p14:creationId xmlns:p14="http://schemas.microsoft.com/office/powerpoint/2010/main" val="1880507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0304A-EF16-73C5-629C-B14D9C219D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C950527-D3AE-EB74-11E5-1E4506FA618D}"/>
              </a:ext>
            </a:extLst>
          </p:cNvPr>
          <p:cNvSpPr>
            <a:spLocks noGrp="1"/>
          </p:cNvSpPr>
          <p:nvPr>
            <p:ph idx="1"/>
          </p:nvPr>
        </p:nvSpPr>
        <p:spPr/>
        <p:txBody>
          <a:bodyPr/>
          <a:lstStyle/>
          <a:p>
            <a:pPr fontAlgn="base"/>
            <a:r>
              <a:rPr lang="en-US" b="1" dirty="0"/>
              <a:t>3. Learning with Reinforcement Learning</a:t>
            </a:r>
          </a:p>
          <a:p>
            <a:pPr fontAlgn="base"/>
            <a:r>
              <a:rPr lang="en-US" dirty="0"/>
              <a:t>Reinforcement learning enables a neural network to learn through interaction with its environment. The network receives feedback in the form of rewards or penalties, guiding it to find an optimal policy or strategy that maximizes cumulative rewards over time. This approach is widely used in applications like gaming and decision-making</a:t>
            </a:r>
          </a:p>
          <a:p>
            <a:endParaRPr lang="en-US" dirty="0"/>
          </a:p>
        </p:txBody>
      </p:sp>
    </p:spTree>
    <p:extLst>
      <p:ext uri="{BB962C8B-B14F-4D97-AF65-F5344CB8AC3E}">
        <p14:creationId xmlns:p14="http://schemas.microsoft.com/office/powerpoint/2010/main" val="2369495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D07CA-A496-E8BB-55D1-003C5E2D9F8A}"/>
              </a:ext>
            </a:extLst>
          </p:cNvPr>
          <p:cNvSpPr>
            <a:spLocks noGrp="1"/>
          </p:cNvSpPr>
          <p:nvPr>
            <p:ph type="title"/>
          </p:nvPr>
        </p:nvSpPr>
        <p:spPr/>
        <p:txBody>
          <a:bodyPr>
            <a:normAutofit fontScale="90000"/>
          </a:bodyPr>
          <a:lstStyle/>
          <a:p>
            <a:r>
              <a:rPr lang="en-US" b="1" dirty="0"/>
              <a:t>Implementation of Neural Network using TensorFlow</a:t>
            </a:r>
            <a:br>
              <a:rPr lang="en-US" b="1" dirty="0"/>
            </a:br>
            <a:endParaRPr lang="en-US" dirty="0"/>
          </a:p>
        </p:txBody>
      </p:sp>
      <p:sp>
        <p:nvSpPr>
          <p:cNvPr id="3" name="Content Placeholder 2">
            <a:extLst>
              <a:ext uri="{FF2B5EF4-FFF2-40B4-BE49-F238E27FC236}">
                <a16:creationId xmlns:a16="http://schemas.microsoft.com/office/drawing/2014/main" id="{9A5693F4-2366-C597-41BF-65962D874815}"/>
              </a:ext>
            </a:extLst>
          </p:cNvPr>
          <p:cNvSpPr>
            <a:spLocks noGrp="1"/>
          </p:cNvSpPr>
          <p:nvPr>
            <p:ph idx="1"/>
          </p:nvPr>
        </p:nvSpPr>
        <p:spPr/>
        <p:txBody>
          <a:bodyPr/>
          <a:lstStyle/>
          <a:p>
            <a:r>
              <a:rPr lang="en-US" dirty="0"/>
              <a:t>import </a:t>
            </a:r>
            <a:r>
              <a:rPr lang="en-US" dirty="0" err="1"/>
              <a:t>numpy</a:t>
            </a:r>
            <a:r>
              <a:rPr lang="en-US" dirty="0"/>
              <a:t> as np</a:t>
            </a:r>
          </a:p>
          <a:p>
            <a:r>
              <a:rPr lang="en-US" dirty="0"/>
              <a:t>import pandas as pd</a:t>
            </a:r>
          </a:p>
          <a:p>
            <a:r>
              <a:rPr lang="en-US" dirty="0"/>
              <a:t>from </a:t>
            </a:r>
            <a:r>
              <a:rPr lang="en-US" dirty="0" err="1"/>
              <a:t>tensorflow.keras.models</a:t>
            </a:r>
            <a:r>
              <a:rPr lang="en-US" dirty="0"/>
              <a:t> import Sequential</a:t>
            </a:r>
          </a:p>
          <a:p>
            <a:r>
              <a:rPr lang="en-US" dirty="0"/>
              <a:t>from </a:t>
            </a:r>
            <a:r>
              <a:rPr lang="en-US" dirty="0" err="1"/>
              <a:t>tensorflow.keras.layers</a:t>
            </a:r>
            <a:r>
              <a:rPr lang="en-US" dirty="0"/>
              <a:t> import Dense</a:t>
            </a:r>
          </a:p>
        </p:txBody>
      </p:sp>
    </p:spTree>
    <p:extLst>
      <p:ext uri="{BB962C8B-B14F-4D97-AF65-F5344CB8AC3E}">
        <p14:creationId xmlns:p14="http://schemas.microsoft.com/office/powerpoint/2010/main" val="2871979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B6E51-5B97-B747-3FD2-DB83B7C5B335}"/>
              </a:ext>
            </a:extLst>
          </p:cNvPr>
          <p:cNvSpPr>
            <a:spLocks noGrp="1"/>
          </p:cNvSpPr>
          <p:nvPr>
            <p:ph type="title"/>
          </p:nvPr>
        </p:nvSpPr>
        <p:spPr/>
        <p:txBody>
          <a:bodyPr/>
          <a:lstStyle/>
          <a:p>
            <a:r>
              <a:rPr lang="en-US" b="1" dirty="0"/>
              <a:t>Step 2: Create and Load Dataset</a:t>
            </a:r>
            <a:br>
              <a:rPr lang="en-US" b="1" dirty="0"/>
            </a:br>
            <a:endParaRPr lang="en-US" dirty="0"/>
          </a:p>
        </p:txBody>
      </p:sp>
      <p:sp>
        <p:nvSpPr>
          <p:cNvPr id="3" name="Content Placeholder 2">
            <a:extLst>
              <a:ext uri="{FF2B5EF4-FFF2-40B4-BE49-F238E27FC236}">
                <a16:creationId xmlns:a16="http://schemas.microsoft.com/office/drawing/2014/main" id="{3DAA936C-F5B0-41CD-AB0F-69278253187B}"/>
              </a:ext>
            </a:extLst>
          </p:cNvPr>
          <p:cNvSpPr>
            <a:spLocks noGrp="1"/>
          </p:cNvSpPr>
          <p:nvPr>
            <p:ph idx="1"/>
          </p:nvPr>
        </p:nvSpPr>
        <p:spPr/>
        <p:txBody>
          <a:bodyPr>
            <a:normAutofit lnSpcReduction="10000"/>
          </a:bodyPr>
          <a:lstStyle/>
          <a:p>
            <a:r>
              <a:rPr lang="en-US" dirty="0"/>
              <a:t>data = {</a:t>
            </a:r>
          </a:p>
          <a:p>
            <a:r>
              <a:rPr lang="en-US" dirty="0"/>
              <a:t>    'feature1': [0.1, 0.2, 0.3, 0.4, 0.5],</a:t>
            </a:r>
          </a:p>
          <a:p>
            <a:r>
              <a:rPr lang="en-US" dirty="0"/>
              <a:t>    'feature2': [0.5, 0.4, 0.3, 0.2, 0.1],</a:t>
            </a:r>
          </a:p>
          <a:p>
            <a:r>
              <a:rPr lang="en-US" dirty="0"/>
              <a:t>    'label': [0, 0, 1, 1, 1]</a:t>
            </a:r>
          </a:p>
          <a:p>
            <a:r>
              <a:rPr lang="en-US" dirty="0"/>
              <a:t>}</a:t>
            </a:r>
          </a:p>
          <a:p>
            <a:endParaRPr lang="en-US" dirty="0"/>
          </a:p>
          <a:p>
            <a:r>
              <a:rPr lang="en-US" dirty="0" err="1"/>
              <a:t>df</a:t>
            </a:r>
            <a:r>
              <a:rPr lang="en-US" dirty="0"/>
              <a:t> = </a:t>
            </a:r>
            <a:r>
              <a:rPr lang="en-US" dirty="0" err="1"/>
              <a:t>pd.DataFrame</a:t>
            </a:r>
            <a:r>
              <a:rPr lang="en-US" dirty="0"/>
              <a:t>(data)</a:t>
            </a:r>
          </a:p>
          <a:p>
            <a:r>
              <a:rPr lang="en-US" dirty="0"/>
              <a:t>X = </a:t>
            </a:r>
            <a:r>
              <a:rPr lang="en-US" dirty="0" err="1"/>
              <a:t>df</a:t>
            </a:r>
            <a:r>
              <a:rPr lang="en-US" dirty="0"/>
              <a:t>[['feature1', 'feature2']].values</a:t>
            </a:r>
          </a:p>
          <a:p>
            <a:r>
              <a:rPr lang="en-US" dirty="0"/>
              <a:t>y = </a:t>
            </a:r>
            <a:r>
              <a:rPr lang="en-US" dirty="0" err="1"/>
              <a:t>df</a:t>
            </a:r>
            <a:r>
              <a:rPr lang="en-US" dirty="0"/>
              <a:t>['label'].values</a:t>
            </a:r>
          </a:p>
        </p:txBody>
      </p:sp>
    </p:spTree>
    <p:extLst>
      <p:ext uri="{BB962C8B-B14F-4D97-AF65-F5344CB8AC3E}">
        <p14:creationId xmlns:p14="http://schemas.microsoft.com/office/powerpoint/2010/main" val="40669235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F80AD-5E52-9F58-1087-139204DECB68}"/>
              </a:ext>
            </a:extLst>
          </p:cNvPr>
          <p:cNvSpPr>
            <a:spLocks noGrp="1"/>
          </p:cNvSpPr>
          <p:nvPr>
            <p:ph type="title"/>
          </p:nvPr>
        </p:nvSpPr>
        <p:spPr/>
        <p:txBody>
          <a:bodyPr/>
          <a:lstStyle/>
          <a:p>
            <a:r>
              <a:rPr lang="en-US" b="1" dirty="0"/>
              <a:t>Step 3: Create a Neural Network</a:t>
            </a:r>
            <a:br>
              <a:rPr lang="en-US" b="1" dirty="0"/>
            </a:br>
            <a:endParaRPr lang="en-US" dirty="0"/>
          </a:p>
        </p:txBody>
      </p:sp>
      <p:sp>
        <p:nvSpPr>
          <p:cNvPr id="3" name="Content Placeholder 2">
            <a:extLst>
              <a:ext uri="{FF2B5EF4-FFF2-40B4-BE49-F238E27FC236}">
                <a16:creationId xmlns:a16="http://schemas.microsoft.com/office/drawing/2014/main" id="{B48D2EA2-9A74-97B9-6846-1134460B2837}"/>
              </a:ext>
            </a:extLst>
          </p:cNvPr>
          <p:cNvSpPr>
            <a:spLocks noGrp="1"/>
          </p:cNvSpPr>
          <p:nvPr>
            <p:ph idx="1"/>
          </p:nvPr>
        </p:nvSpPr>
        <p:spPr/>
        <p:txBody>
          <a:bodyPr/>
          <a:lstStyle/>
          <a:p>
            <a:r>
              <a:rPr lang="en-US" dirty="0"/>
              <a:t>model = Sequential()</a:t>
            </a:r>
          </a:p>
          <a:p>
            <a:r>
              <a:rPr lang="en-US" dirty="0" err="1"/>
              <a:t>model.add</a:t>
            </a:r>
            <a:r>
              <a:rPr lang="en-US" dirty="0"/>
              <a:t>(Dense(8, </a:t>
            </a:r>
            <a:r>
              <a:rPr lang="en-US" dirty="0" err="1"/>
              <a:t>input_dim</a:t>
            </a:r>
            <a:r>
              <a:rPr lang="en-US" dirty="0"/>
              <a:t>=2, activation='</a:t>
            </a:r>
            <a:r>
              <a:rPr lang="en-US" dirty="0" err="1"/>
              <a:t>relu</a:t>
            </a:r>
            <a:r>
              <a:rPr lang="en-US" dirty="0"/>
              <a:t>'))</a:t>
            </a:r>
          </a:p>
          <a:p>
            <a:r>
              <a:rPr lang="en-US" dirty="0" err="1"/>
              <a:t>model.add</a:t>
            </a:r>
            <a:r>
              <a:rPr lang="en-US" dirty="0"/>
              <a:t>(Dense(1, activation='sigmoid'))</a:t>
            </a:r>
          </a:p>
        </p:txBody>
      </p:sp>
    </p:spTree>
    <p:extLst>
      <p:ext uri="{BB962C8B-B14F-4D97-AF65-F5344CB8AC3E}">
        <p14:creationId xmlns:p14="http://schemas.microsoft.com/office/powerpoint/2010/main" val="3713556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D9061-C3A0-277F-C2DE-0405FD9B4AA2}"/>
              </a:ext>
            </a:extLst>
          </p:cNvPr>
          <p:cNvSpPr>
            <a:spLocks noGrp="1"/>
          </p:cNvSpPr>
          <p:nvPr>
            <p:ph type="title"/>
          </p:nvPr>
        </p:nvSpPr>
        <p:spPr/>
        <p:txBody>
          <a:bodyPr/>
          <a:lstStyle/>
          <a:p>
            <a:r>
              <a:rPr lang="en-US" b="1" dirty="0"/>
              <a:t>Step 4: Compiling the Model</a:t>
            </a:r>
            <a:br>
              <a:rPr lang="en-US" b="1" dirty="0"/>
            </a:br>
            <a:endParaRPr lang="en-US" dirty="0"/>
          </a:p>
        </p:txBody>
      </p:sp>
      <p:sp>
        <p:nvSpPr>
          <p:cNvPr id="3" name="Content Placeholder 2">
            <a:extLst>
              <a:ext uri="{FF2B5EF4-FFF2-40B4-BE49-F238E27FC236}">
                <a16:creationId xmlns:a16="http://schemas.microsoft.com/office/drawing/2014/main" id="{712E1EDD-3C09-C379-3D61-DCCB607F73CB}"/>
              </a:ext>
            </a:extLst>
          </p:cNvPr>
          <p:cNvSpPr>
            <a:spLocks noGrp="1"/>
          </p:cNvSpPr>
          <p:nvPr>
            <p:ph idx="1"/>
          </p:nvPr>
        </p:nvSpPr>
        <p:spPr/>
        <p:txBody>
          <a:bodyPr/>
          <a:lstStyle/>
          <a:p>
            <a:r>
              <a:rPr lang="en-US" dirty="0" err="1"/>
              <a:t>model.compile</a:t>
            </a:r>
            <a:r>
              <a:rPr lang="en-US" dirty="0"/>
              <a:t>(loss='</a:t>
            </a:r>
            <a:r>
              <a:rPr lang="en-US" dirty="0" err="1"/>
              <a:t>binary_crossentropy</a:t>
            </a:r>
            <a:r>
              <a:rPr lang="en-US" dirty="0"/>
              <a:t>',</a:t>
            </a:r>
          </a:p>
          <a:p>
            <a:r>
              <a:rPr lang="en-US" dirty="0"/>
              <a:t>              optimizer='</a:t>
            </a:r>
            <a:r>
              <a:rPr lang="en-US" dirty="0" err="1"/>
              <a:t>adam</a:t>
            </a:r>
            <a:r>
              <a:rPr lang="en-US" dirty="0"/>
              <a:t>', metrics=['accuracy'])</a:t>
            </a:r>
          </a:p>
        </p:txBody>
      </p:sp>
    </p:spTree>
    <p:extLst>
      <p:ext uri="{BB962C8B-B14F-4D97-AF65-F5344CB8AC3E}">
        <p14:creationId xmlns:p14="http://schemas.microsoft.com/office/powerpoint/2010/main" val="1422152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68B58-F8E4-0AD1-E5BD-1BB2FE3CEB05}"/>
              </a:ext>
            </a:extLst>
          </p:cNvPr>
          <p:cNvSpPr>
            <a:spLocks noGrp="1"/>
          </p:cNvSpPr>
          <p:nvPr>
            <p:ph type="title"/>
          </p:nvPr>
        </p:nvSpPr>
        <p:spPr/>
        <p:txBody>
          <a:bodyPr/>
          <a:lstStyle/>
          <a:p>
            <a:r>
              <a:rPr lang="en-US" b="1" dirty="0"/>
              <a:t>Step 5: Train the Model</a:t>
            </a:r>
            <a:br>
              <a:rPr lang="en-US" b="1" dirty="0"/>
            </a:br>
            <a:endParaRPr lang="en-US" dirty="0"/>
          </a:p>
        </p:txBody>
      </p:sp>
      <p:sp>
        <p:nvSpPr>
          <p:cNvPr id="3" name="Content Placeholder 2">
            <a:extLst>
              <a:ext uri="{FF2B5EF4-FFF2-40B4-BE49-F238E27FC236}">
                <a16:creationId xmlns:a16="http://schemas.microsoft.com/office/drawing/2014/main" id="{93FC0037-90BB-E8F0-D1A5-F4CE3DEFB783}"/>
              </a:ext>
            </a:extLst>
          </p:cNvPr>
          <p:cNvSpPr>
            <a:spLocks noGrp="1"/>
          </p:cNvSpPr>
          <p:nvPr>
            <p:ph idx="1"/>
          </p:nvPr>
        </p:nvSpPr>
        <p:spPr/>
        <p:txBody>
          <a:bodyPr/>
          <a:lstStyle/>
          <a:p>
            <a:r>
              <a:rPr lang="en-US" dirty="0" err="1"/>
              <a:t>model.fit</a:t>
            </a:r>
            <a:r>
              <a:rPr lang="en-US" dirty="0"/>
              <a:t>(X, y, epochs=100, </a:t>
            </a:r>
            <a:r>
              <a:rPr lang="en-US" dirty="0" err="1"/>
              <a:t>batch_size</a:t>
            </a:r>
            <a:r>
              <a:rPr lang="en-US" dirty="0"/>
              <a:t>=1, verbose=1)</a:t>
            </a:r>
          </a:p>
        </p:txBody>
      </p:sp>
    </p:spTree>
    <p:extLst>
      <p:ext uri="{BB962C8B-B14F-4D97-AF65-F5344CB8AC3E}">
        <p14:creationId xmlns:p14="http://schemas.microsoft.com/office/powerpoint/2010/main" val="1749649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90D17-A9F2-C4C6-11CF-F95A95A8B095}"/>
              </a:ext>
            </a:extLst>
          </p:cNvPr>
          <p:cNvSpPr>
            <a:spLocks noGrp="1"/>
          </p:cNvSpPr>
          <p:nvPr>
            <p:ph type="title"/>
          </p:nvPr>
        </p:nvSpPr>
        <p:spPr/>
        <p:txBody>
          <a:bodyPr/>
          <a:lstStyle/>
          <a:p>
            <a:r>
              <a:rPr lang="en-US" b="1" dirty="0"/>
              <a:t>Step 6: Make Predictions</a:t>
            </a:r>
            <a:br>
              <a:rPr lang="en-US" b="1" dirty="0"/>
            </a:br>
            <a:endParaRPr lang="en-US" dirty="0"/>
          </a:p>
        </p:txBody>
      </p:sp>
      <p:sp>
        <p:nvSpPr>
          <p:cNvPr id="3" name="Content Placeholder 2">
            <a:extLst>
              <a:ext uri="{FF2B5EF4-FFF2-40B4-BE49-F238E27FC236}">
                <a16:creationId xmlns:a16="http://schemas.microsoft.com/office/drawing/2014/main" id="{8022A058-9A72-2E1C-E737-D63FF3824A72}"/>
              </a:ext>
            </a:extLst>
          </p:cNvPr>
          <p:cNvSpPr>
            <a:spLocks noGrp="1"/>
          </p:cNvSpPr>
          <p:nvPr>
            <p:ph idx="1"/>
          </p:nvPr>
        </p:nvSpPr>
        <p:spPr/>
        <p:txBody>
          <a:bodyPr/>
          <a:lstStyle/>
          <a:p>
            <a:r>
              <a:rPr lang="en-US" dirty="0" err="1"/>
              <a:t>test_data</a:t>
            </a:r>
            <a:r>
              <a:rPr lang="en-US" dirty="0"/>
              <a:t> = </a:t>
            </a:r>
            <a:r>
              <a:rPr lang="en-US" dirty="0" err="1"/>
              <a:t>np.array</a:t>
            </a:r>
            <a:r>
              <a:rPr lang="en-US" dirty="0"/>
              <a:t>([[0.2, 0.4]])</a:t>
            </a:r>
          </a:p>
          <a:p>
            <a:r>
              <a:rPr lang="en-US" dirty="0"/>
              <a:t>prediction = </a:t>
            </a:r>
            <a:r>
              <a:rPr lang="en-US" dirty="0" err="1"/>
              <a:t>model.predict</a:t>
            </a:r>
            <a:r>
              <a:rPr lang="en-US" dirty="0"/>
              <a:t>(</a:t>
            </a:r>
            <a:r>
              <a:rPr lang="en-US" dirty="0" err="1"/>
              <a:t>test_data</a:t>
            </a:r>
            <a:r>
              <a:rPr lang="en-US" dirty="0"/>
              <a:t>)</a:t>
            </a:r>
          </a:p>
          <a:p>
            <a:r>
              <a:rPr lang="en-US" dirty="0" err="1"/>
              <a:t>predicted_label</a:t>
            </a:r>
            <a:r>
              <a:rPr lang="en-US" dirty="0"/>
              <a:t> = (prediction &gt; 0.5).</a:t>
            </a:r>
            <a:r>
              <a:rPr lang="en-US" dirty="0" err="1"/>
              <a:t>astype</a:t>
            </a:r>
            <a:r>
              <a:rPr lang="en-US" dirty="0"/>
              <a:t>(int)</a:t>
            </a:r>
          </a:p>
        </p:txBody>
      </p:sp>
    </p:spTree>
    <p:extLst>
      <p:ext uri="{BB962C8B-B14F-4D97-AF65-F5344CB8AC3E}">
        <p14:creationId xmlns:p14="http://schemas.microsoft.com/office/powerpoint/2010/main" val="3842903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BE9B5-FC56-38FD-7796-DE469EE07CF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D5EF0D-A310-1E21-2A93-E0703B34B34D}"/>
              </a:ext>
            </a:extLst>
          </p:cNvPr>
          <p:cNvSpPr>
            <a:spLocks noGrp="1"/>
          </p:cNvSpPr>
          <p:nvPr>
            <p:ph idx="1"/>
          </p:nvPr>
        </p:nvSpPr>
        <p:spPr/>
        <p:txBody>
          <a:bodyPr/>
          <a:lstStyle/>
          <a:p>
            <a:pPr fontAlgn="base"/>
            <a:br>
              <a:rPr lang="en-US" b="1" dirty="0"/>
            </a:br>
            <a:r>
              <a:rPr lang="en-US" b="1" dirty="0"/>
              <a:t>Output:</a:t>
            </a:r>
            <a:endParaRPr lang="en-US" dirty="0"/>
          </a:p>
          <a:p>
            <a:pPr fontAlgn="base"/>
            <a:r>
              <a:rPr lang="en-US" i="1"/>
              <a:t>Predicted label: 1</a:t>
            </a:r>
          </a:p>
          <a:p>
            <a:endParaRPr lang="en-US"/>
          </a:p>
        </p:txBody>
      </p:sp>
    </p:spTree>
    <p:extLst>
      <p:ext uri="{BB962C8B-B14F-4D97-AF65-F5344CB8AC3E}">
        <p14:creationId xmlns:p14="http://schemas.microsoft.com/office/powerpoint/2010/main" val="4416969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TotalTime>
  <Words>1458</Words>
  <Application>Microsoft Office PowerPoint</Application>
  <PresentationFormat>Widescreen</PresentationFormat>
  <Paragraphs>97</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COMP343 - Artificial Neural Networks &amp; Deep learning </vt:lpstr>
      <vt:lpstr>Machine learning basics </vt:lpstr>
      <vt:lpstr>Data ?</vt:lpstr>
      <vt:lpstr>PowerPoint Presentation</vt:lpstr>
      <vt:lpstr>PowerPoint Presentation</vt:lpstr>
      <vt:lpstr>Introduction to Neural Networks &amp; Deep Learning</vt:lpstr>
      <vt:lpstr>Neural Networks key components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of Neural Network using TensorFlow </vt:lpstr>
      <vt:lpstr>Step 2: Create and Load Dataset </vt:lpstr>
      <vt:lpstr>Step 3: Create a Neural Network </vt:lpstr>
      <vt:lpstr>Step 4: Compiling the Model </vt:lpstr>
      <vt:lpstr>Step 5: Train the Model </vt:lpstr>
      <vt:lpstr>Step 6: Make Predictions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35</cp:revision>
  <dcterms:created xsi:type="dcterms:W3CDTF">2026-09-23T06:16:22Z</dcterms:created>
  <dcterms:modified xsi:type="dcterms:W3CDTF">2026-09-23T09:57:44Z</dcterms:modified>
</cp:coreProperties>
</file>